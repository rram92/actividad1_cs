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9" r:id="rId4"/>
    <p:sldId id="260" r:id="rId5"/>
    <p:sldId id="258" r:id="rId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FAAF4-7EA5-4F71-B9A7-D4F7B86B460A}" type="datetimeFigureOut">
              <a:rPr lang="es-MX" smtClean="0"/>
              <a:t>19/10/2026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DF5C28-39A9-40A2-BAB3-6A3F358F01BC}" type="slidenum">
              <a:rPr lang="es-MX" smtClean="0"/>
              <a:t>‹Nº›</a:t>
            </a:fld>
            <a:endParaRPr lang="es-MX"/>
          </a:p>
        </p:txBody>
      </p:sp>
    </p:spTree>
    <p:extLst>
      <p:ext uri="{BB962C8B-B14F-4D97-AF65-F5344CB8AC3E}">
        <p14:creationId xmlns:p14="http://schemas.microsoft.com/office/powerpoint/2010/main" val="530265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Hola, soy René Almeida. Hoy analizo el ciberataque a Colonial Pipeline, un caso que muestra cómo una falla pequeña puede detener una infraestructura crítica.</a:t>
            </a:r>
          </a:p>
        </p:txBody>
      </p:sp>
      <p:sp>
        <p:nvSpPr>
          <p:cNvPr id="4" name="Marcador de número de diapositiva 3"/>
          <p:cNvSpPr>
            <a:spLocks noGrp="1"/>
          </p:cNvSpPr>
          <p:nvPr>
            <p:ph type="sldNum" sz="quarter" idx="5"/>
          </p:nvPr>
        </p:nvSpPr>
        <p:spPr/>
        <p:txBody>
          <a:bodyPr/>
          <a:lstStyle/>
          <a:p>
            <a:fld id="{71DF5C28-39A9-40A2-BAB3-6A3F358F01BC}" type="slidenum">
              <a:rPr lang="es-MX" smtClean="0"/>
              <a:t>1</a:t>
            </a:fld>
            <a:endParaRPr lang="es-MX"/>
          </a:p>
        </p:txBody>
      </p:sp>
    </p:spTree>
    <p:extLst>
      <p:ext uri="{BB962C8B-B14F-4D97-AF65-F5344CB8AC3E}">
        <p14:creationId xmlns:p14="http://schemas.microsoft.com/office/powerpoint/2010/main" val="3258107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En mayo de 2021, una contraseña filtrada paralizó el oleoducto más importante de Estados Unidos. El 7 de mayo, el grupo </a:t>
            </a:r>
            <a:r>
              <a:rPr lang="es-MX" dirty="0" err="1"/>
              <a:t>DarkSide</a:t>
            </a:r>
            <a:r>
              <a:rPr lang="es-MX" dirty="0"/>
              <a:t> atacó con </a:t>
            </a:r>
            <a:r>
              <a:rPr lang="es-MX" dirty="0" err="1"/>
              <a:t>ransomware</a:t>
            </a:r>
            <a:r>
              <a:rPr lang="es-MX" dirty="0"/>
              <a:t> a Colonial Pipeline, que transporta cerca de la mitad del combustible de la costa este. </a:t>
            </a:r>
            <a:r>
              <a:rPr lang="es-MX" dirty="0" err="1"/>
              <a:t>DarkSide</a:t>
            </a:r>
            <a:r>
              <a:rPr lang="es-MX" dirty="0"/>
              <a:t> funciona como </a:t>
            </a:r>
            <a:r>
              <a:rPr lang="es-MX" i="1" dirty="0" err="1"/>
              <a:t>Ransomware</a:t>
            </a:r>
            <a:r>
              <a:rPr lang="es-MX" i="1" dirty="0"/>
              <a:t> as a Service</a:t>
            </a:r>
            <a:r>
              <a:rPr lang="es-MX" dirty="0"/>
              <a:t>: sus creadores alquilan la herramienta a afiliados, que ejecutan los ataques y se reparten las ganancias. El resultado fueron seis días con el oleoducto detenido, un rescate de 4.4 millones de dólares y 100 gigabytes de datos robados.</a:t>
            </a:r>
          </a:p>
        </p:txBody>
      </p:sp>
      <p:sp>
        <p:nvSpPr>
          <p:cNvPr id="4" name="Marcador de número de diapositiva 3"/>
          <p:cNvSpPr>
            <a:spLocks noGrp="1"/>
          </p:cNvSpPr>
          <p:nvPr>
            <p:ph type="sldNum" sz="quarter" idx="5"/>
          </p:nvPr>
        </p:nvSpPr>
        <p:spPr/>
        <p:txBody>
          <a:bodyPr/>
          <a:lstStyle/>
          <a:p>
            <a:fld id="{71DF5C28-39A9-40A2-BAB3-6A3F358F01BC}" type="slidenum">
              <a:rPr lang="es-MX" smtClean="0"/>
              <a:t>2</a:t>
            </a:fld>
            <a:endParaRPr lang="es-MX"/>
          </a:p>
        </p:txBody>
      </p:sp>
    </p:spTree>
    <p:extLst>
      <p:ext uri="{BB962C8B-B14F-4D97-AF65-F5344CB8AC3E}">
        <p14:creationId xmlns:p14="http://schemas.microsoft.com/office/powerpoint/2010/main" val="3033838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Todo empezó con algo simple: una contraseña de una cuenta VPN antigua, filtrada y sin autenticación </a:t>
            </a:r>
            <a:r>
              <a:rPr lang="es-MX" dirty="0" err="1"/>
              <a:t>multifactor</a:t>
            </a:r>
            <a:r>
              <a:rPr lang="es-MX" dirty="0"/>
              <a:t>. Con ella, los atacantes entraron y robaron 100 gigabytes de datos. Después cifraron los sistemas y dejaron una nota de rescate. Un detalle importante es que el ataque fue contra los sistemas informáticos, no contra los que controlan físicamente el oleoducto. Aun así, la empresa no podía medir ni cobrar el combustible, así que apagó la red de forma preventiva.</a:t>
            </a:r>
          </a:p>
        </p:txBody>
      </p:sp>
      <p:sp>
        <p:nvSpPr>
          <p:cNvPr id="4" name="Marcador de número de diapositiva 3"/>
          <p:cNvSpPr>
            <a:spLocks noGrp="1"/>
          </p:cNvSpPr>
          <p:nvPr>
            <p:ph type="sldNum" sz="quarter" idx="5"/>
          </p:nvPr>
        </p:nvSpPr>
        <p:spPr/>
        <p:txBody>
          <a:bodyPr/>
          <a:lstStyle/>
          <a:p>
            <a:fld id="{71DF5C28-39A9-40A2-BAB3-6A3F358F01BC}" type="slidenum">
              <a:rPr lang="es-MX" smtClean="0"/>
              <a:t>3</a:t>
            </a:fld>
            <a:endParaRPr lang="es-MX"/>
          </a:p>
        </p:txBody>
      </p:sp>
    </p:spTree>
    <p:extLst>
      <p:ext uri="{BB962C8B-B14F-4D97-AF65-F5344CB8AC3E}">
        <p14:creationId xmlns:p14="http://schemas.microsoft.com/office/powerpoint/2010/main" val="2677786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incidente afectó los tres pilares de la tríada CIA. En confidencialidad, se expusieron documentos internos y datos personales de más de 5,800 empleados. En integridad, los archivos quedaron cifrados e inutilizables sin la clave. Y en disponibilidad, el oleoducto estuvo apagado seis días. Cerca de 50 millones de personas, en 18 estados, sufrieron las consecuencias de la escasez de combustible.</a:t>
            </a:r>
          </a:p>
        </p:txBody>
      </p:sp>
      <p:sp>
        <p:nvSpPr>
          <p:cNvPr id="4" name="Marcador de número de diapositiva 3"/>
          <p:cNvSpPr>
            <a:spLocks noGrp="1"/>
          </p:cNvSpPr>
          <p:nvPr>
            <p:ph type="sldNum" sz="quarter" idx="5"/>
          </p:nvPr>
        </p:nvSpPr>
        <p:spPr/>
        <p:txBody>
          <a:bodyPr/>
          <a:lstStyle/>
          <a:p>
            <a:fld id="{71DF5C28-39A9-40A2-BAB3-6A3F358F01BC}" type="slidenum">
              <a:rPr lang="es-MX" smtClean="0"/>
              <a:t>4</a:t>
            </a:fld>
            <a:endParaRPr lang="es-MX"/>
          </a:p>
        </p:txBody>
      </p:sp>
    </p:spTree>
    <p:extLst>
      <p:ext uri="{BB962C8B-B14F-4D97-AF65-F5344CB8AC3E}">
        <p14:creationId xmlns:p14="http://schemas.microsoft.com/office/powerpoint/2010/main" val="1425901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Me quedo con tres ideas. Primero, lo simple es lo peligroso: no fue un ataque sofisticado, sino una cuenta olvidada sin autenticación </a:t>
            </a:r>
            <a:r>
              <a:rPr lang="es-MX" dirty="0" err="1"/>
              <a:t>multifactor</a:t>
            </a:r>
            <a:r>
              <a:rPr lang="es-MX" dirty="0"/>
              <a:t>. Segundo, lo digital tiene consecuencias físicas: un problema informático terminó en gasolineras vacías. Tercero, el dilema del rescate: pagar resolvió la urgencia, pero financia al crimen, y prevenir cuesta mucho menos. Por eso cierro con una pregunta: si una contraseña pudo parar un oleoducto, ¿qué estamos dejando abierto en nuestras propias vidas y empresas? Gracias.</a:t>
            </a:r>
          </a:p>
        </p:txBody>
      </p:sp>
      <p:sp>
        <p:nvSpPr>
          <p:cNvPr id="4" name="Marcador de número de diapositiva 3"/>
          <p:cNvSpPr>
            <a:spLocks noGrp="1"/>
          </p:cNvSpPr>
          <p:nvPr>
            <p:ph type="sldNum" sz="quarter" idx="5"/>
          </p:nvPr>
        </p:nvSpPr>
        <p:spPr/>
        <p:txBody>
          <a:bodyPr/>
          <a:lstStyle/>
          <a:p>
            <a:fld id="{71DF5C28-39A9-40A2-BAB3-6A3F358F01BC}" type="slidenum">
              <a:rPr lang="es-MX" smtClean="0"/>
              <a:t>5</a:t>
            </a:fld>
            <a:endParaRPr lang="es-MX"/>
          </a:p>
        </p:txBody>
      </p:sp>
    </p:spTree>
    <p:extLst>
      <p:ext uri="{BB962C8B-B14F-4D97-AF65-F5344CB8AC3E}">
        <p14:creationId xmlns:p14="http://schemas.microsoft.com/office/powerpoint/2010/main" val="3376752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F5A4D4-8E89-42AB-30EE-AE8F4F77122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67B104E-2AEC-4FC9-7124-CF66F7B6D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6D8EDD3-D15C-1CA8-11C7-C2DBF4A2AEA3}"/>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D65E3CAD-DB69-8AD3-5301-DA9187E99BF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FED5920-F4A9-9693-0407-F80EDB90A4D8}"/>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203753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51C3A7-0DA3-CACB-A198-3F2BF985876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090CB73-EF9A-AB11-CE63-B7CDADD4DD3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C378647-46FA-1522-DEA8-EC19CC703D7F}"/>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BAA72012-1678-E2D9-7761-0062C4B3CA0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B41CFFF-1CA2-559C-9820-E80BFE95CC48}"/>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3527064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71FE86-38AD-2A26-6C7F-328E2656695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462A40E-A70A-60E4-A1E8-56A5FF2AF3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79FD6A-4D63-EC24-CE73-46985C5AD308}"/>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28F7C5BA-D8B2-0E51-783F-BED08A7B304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5A6F81-6186-C61E-6EED-4D50B4268DA1}"/>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2411960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47F4E-A9F3-7C1C-DC0F-E4DD211B39F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51B6633-BD48-04E3-15F2-0ACFFD63BE6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D74E462-A2FA-F5F4-9BCE-F6CA9CB0553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04215D6-ACA2-C394-0D90-8D566DAC1F1F}"/>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6" name="Marcador de pie de página 5">
            <a:extLst>
              <a:ext uri="{FF2B5EF4-FFF2-40B4-BE49-F238E27FC236}">
                <a16:creationId xmlns:a16="http://schemas.microsoft.com/office/drawing/2014/main" id="{1A9B7F5E-FC80-E8E3-D9A5-87016E402A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5A32563-4E6E-ED19-96EC-94AE4263F18C}"/>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335203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7ACCB-EC05-BC91-9700-335AC615544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1545456-F907-A743-7F85-6B69BCB2E7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3CB3DBB-EA38-C5F7-4837-557C50751C3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8EB3017-080E-9BF6-7718-830FCB3F3B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02683A5-821E-0C2C-045E-13E41280A43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F2175D6-310F-8D0A-E054-8822A4BFB6F5}"/>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8" name="Marcador de pie de página 7">
            <a:extLst>
              <a:ext uri="{FF2B5EF4-FFF2-40B4-BE49-F238E27FC236}">
                <a16:creationId xmlns:a16="http://schemas.microsoft.com/office/drawing/2014/main" id="{251624C9-8F7A-B597-59A3-C08084BC954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156ABCD-CB00-3C13-B077-7A777B2F745E}"/>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8283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2AEB2D-4434-F77F-6462-F45CB1AC15A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903E784-13CF-AEFF-D513-EA61ABCD2B81}"/>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4" name="Marcador de pie de página 3">
            <a:extLst>
              <a:ext uri="{FF2B5EF4-FFF2-40B4-BE49-F238E27FC236}">
                <a16:creationId xmlns:a16="http://schemas.microsoft.com/office/drawing/2014/main" id="{FE2AA23B-9F23-C601-6BE5-8C28620FC24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39316EF-1ECE-8FB3-31F6-88AEE40D5FE0}"/>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23445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6595D3D-97D3-0E46-C998-E147C36F4D69}"/>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3" name="Marcador de pie de página 2">
            <a:extLst>
              <a:ext uri="{FF2B5EF4-FFF2-40B4-BE49-F238E27FC236}">
                <a16:creationId xmlns:a16="http://schemas.microsoft.com/office/drawing/2014/main" id="{D2CB7769-EE8B-1209-DB15-FF2578AD90B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665BE79-FA88-177B-6747-0198DEC752BE}"/>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725981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CD80E2-49CB-78A4-C44E-68A9F587666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BF837AA-F5D3-D074-D0B2-7D4102A4C8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48CB6C7-BE1D-16DD-453D-3CE1DE151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247FECC-A9BE-6871-3484-CA6101F15DC1}"/>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6" name="Marcador de pie de página 5">
            <a:extLst>
              <a:ext uri="{FF2B5EF4-FFF2-40B4-BE49-F238E27FC236}">
                <a16:creationId xmlns:a16="http://schemas.microsoft.com/office/drawing/2014/main" id="{D71795CC-8E07-B655-E900-91765FB33AE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B207425-50B0-347E-2741-5112BA14E62A}"/>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07702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3B9A54-3223-AE6A-4B3B-77A7E3CC6BA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63E314C3-AD36-3270-454C-015BB71C270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D55ECFAF-B238-FB31-6317-487A4D85E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0F75496-3724-34F0-31B3-A7C663D6D985}"/>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6" name="Marcador de pie de página 5">
            <a:extLst>
              <a:ext uri="{FF2B5EF4-FFF2-40B4-BE49-F238E27FC236}">
                <a16:creationId xmlns:a16="http://schemas.microsoft.com/office/drawing/2014/main" id="{97300AC7-BEE1-3297-7350-475EF398778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3CB0DAE-3B6F-3E82-292D-FA39B5E8527D}"/>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656103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99D49-CAF4-42F2-728A-989908B4699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BE73BF4-6113-5D36-CDCB-5E1C58185F4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5DAC2DD-6AD1-A04B-7CBE-DA01254F70BF}"/>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BC527828-CDF0-86DE-35D2-B206D1BE912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8A0E46F-5003-6F95-9478-715DB297973E}"/>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2093158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452ADA9-CE79-6D9F-E2EB-709CC82B81F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090A8EC-E05B-707B-AD04-38D37519583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011276-6FDE-2782-5BF9-79A8D6DF851E}"/>
              </a:ext>
            </a:extLst>
          </p:cNvPr>
          <p:cNvSpPr>
            <a:spLocks noGrp="1"/>
          </p:cNvSpPr>
          <p:nvPr>
            <p:ph type="dt" sz="half" idx="10"/>
          </p:nvPr>
        </p:nvSpPr>
        <p:spPr/>
        <p:txBody>
          <a:body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7816193A-756E-AE46-66F9-D69D6B09C4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A34AD33-62C7-FBBC-0C11-CB13FD729446}"/>
              </a:ext>
            </a:extLst>
          </p:cNvPr>
          <p:cNvSpPr>
            <a:spLocks noGrp="1"/>
          </p:cNvSpPr>
          <p:nvPr>
            <p:ph type="sldNum" sz="quarter" idx="12"/>
          </p:nvPr>
        </p:nvSpPr>
        <p:spPr/>
        <p:txBody>
          <a:bodyPr/>
          <a:lstStyle/>
          <a:p>
            <a:fld id="{8978697A-328B-4650-93D7-4D219BBBD330}" type="slidenum">
              <a:rPr lang="es-MX" smtClean="0"/>
              <a:t>‹Nº›</a:t>
            </a:fld>
            <a:endParaRPr lang="es-MX"/>
          </a:p>
        </p:txBody>
      </p:sp>
    </p:spTree>
    <p:extLst>
      <p:ext uri="{BB962C8B-B14F-4D97-AF65-F5344CB8AC3E}">
        <p14:creationId xmlns:p14="http://schemas.microsoft.com/office/powerpoint/2010/main" val="172658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DE81F1F-7D22-8BAF-7E79-EA75A00EF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24ABCB7-ECF6-6266-048C-492BB40966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69E2CB2-AA80-4EAA-FDE6-628F73E2AF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2FD0E7-3D16-4994-8432-9B8057CB4DFB}" type="datetimeFigureOut">
              <a:rPr lang="es-MX" smtClean="0"/>
              <a:t>19/10/2026</a:t>
            </a:fld>
            <a:endParaRPr lang="es-MX"/>
          </a:p>
        </p:txBody>
      </p:sp>
      <p:sp>
        <p:nvSpPr>
          <p:cNvPr id="5" name="Marcador de pie de página 4">
            <a:extLst>
              <a:ext uri="{FF2B5EF4-FFF2-40B4-BE49-F238E27FC236}">
                <a16:creationId xmlns:a16="http://schemas.microsoft.com/office/drawing/2014/main" id="{937E386B-A5A4-C8AF-D6FC-6776E6409E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3C0F9666-4564-4A46-8097-2826860A14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78697A-328B-4650-93D7-4D219BBBD330}" type="slidenum">
              <a:rPr lang="es-MX" smtClean="0"/>
              <a:t>‹Nº›</a:t>
            </a:fld>
            <a:endParaRPr lang="es-MX"/>
          </a:p>
        </p:txBody>
      </p:sp>
    </p:spTree>
    <p:extLst>
      <p:ext uri="{BB962C8B-B14F-4D97-AF65-F5344CB8AC3E}">
        <p14:creationId xmlns:p14="http://schemas.microsoft.com/office/powerpoint/2010/main" val="3986161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Un año de información en Bit Life Media">
            <a:extLst>
              <a:ext uri="{FF2B5EF4-FFF2-40B4-BE49-F238E27FC236}">
                <a16:creationId xmlns:a16="http://schemas.microsoft.com/office/drawing/2014/main" id="{FA264EDF-8441-E04E-10CF-E6D940F94CAF}"/>
              </a:ext>
            </a:extLst>
          </p:cNvPr>
          <p:cNvPicPr>
            <a:picLocks noChangeAspect="1"/>
          </p:cNvPicPr>
          <p:nvPr/>
        </p:nvPicPr>
        <p:blipFill>
          <a:blip r:embed="rId5">
            <a:biLevel thresh="50000"/>
          </a:blip>
          <a:stretch>
            <a:fillRect/>
          </a:stretch>
        </p:blipFill>
        <p:spPr>
          <a:xfrm>
            <a:off x="1" y="-1"/>
            <a:ext cx="12192000" cy="6858001"/>
          </a:xfrm>
          <a:prstGeom prst="rect">
            <a:avLst/>
          </a:prstGeom>
        </p:spPr>
      </p:pic>
      <p:sp>
        <p:nvSpPr>
          <p:cNvPr id="5" name="Rectángulo 4">
            <a:extLst>
              <a:ext uri="{FF2B5EF4-FFF2-40B4-BE49-F238E27FC236}">
                <a16:creationId xmlns:a16="http://schemas.microsoft.com/office/drawing/2014/main" id="{2EA89CC3-B84F-BD7E-CE87-963EDB0AEBA3}"/>
              </a:ext>
            </a:extLst>
          </p:cNvPr>
          <p:cNvSpPr/>
          <p:nvPr/>
        </p:nvSpPr>
        <p:spPr>
          <a:xfrm>
            <a:off x="11052747" y="-1"/>
            <a:ext cx="1139253" cy="113925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03975DBA-3D82-E813-9EB2-51097A026DB5}"/>
              </a:ext>
            </a:extLst>
          </p:cNvPr>
          <p:cNvSpPr/>
          <p:nvPr/>
        </p:nvSpPr>
        <p:spPr>
          <a:xfrm>
            <a:off x="0" y="1139252"/>
            <a:ext cx="11052747" cy="5718748"/>
          </a:xfrm>
          <a:prstGeom prst="rect">
            <a:avLst/>
          </a:prstGeom>
          <a:gradFill>
            <a:gsLst>
              <a:gs pos="0">
                <a:srgbClr val="C00000">
                  <a:alpha val="0"/>
                </a:srgbClr>
              </a:gs>
              <a:gs pos="59000">
                <a:srgbClr val="C000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CuadroTexto 2">
            <a:extLst>
              <a:ext uri="{FF2B5EF4-FFF2-40B4-BE49-F238E27FC236}">
                <a16:creationId xmlns:a16="http://schemas.microsoft.com/office/drawing/2014/main" id="{06A62079-AF2E-2E33-24BF-CB300FF1726E}"/>
              </a:ext>
            </a:extLst>
          </p:cNvPr>
          <p:cNvSpPr txBox="1"/>
          <p:nvPr/>
        </p:nvSpPr>
        <p:spPr>
          <a:xfrm>
            <a:off x="-2" y="4888231"/>
            <a:ext cx="11052747" cy="1661993"/>
          </a:xfrm>
          <a:prstGeom prst="rect">
            <a:avLst/>
          </a:prstGeom>
          <a:noFill/>
        </p:spPr>
        <p:txBody>
          <a:bodyPr wrap="square" rtlCol="0">
            <a:spAutoFit/>
          </a:bodyPr>
          <a:lstStyle/>
          <a:p>
            <a:r>
              <a:rPr lang="es-MX" sz="5400" b="1" dirty="0">
                <a:solidFill>
                  <a:schemeClr val="bg1"/>
                </a:solidFill>
                <a:latin typeface="HP Simplified" panose="020B0604020204020204" pitchFamily="34" charset="0"/>
              </a:rPr>
              <a:t>Ciberataque de Colonial Pipeline</a:t>
            </a:r>
          </a:p>
          <a:p>
            <a:r>
              <a:rPr lang="es-MX" sz="2400" dirty="0">
                <a:solidFill>
                  <a:schemeClr val="bg1"/>
                </a:solidFill>
                <a:latin typeface="HP Simplified" panose="020B0604020204020204" pitchFamily="34" charset="0"/>
              </a:rPr>
              <a:t>Estudio de caso sobre el modelo </a:t>
            </a:r>
            <a:r>
              <a:rPr lang="es-MX" sz="2400" dirty="0" err="1">
                <a:solidFill>
                  <a:schemeClr val="bg1"/>
                </a:solidFill>
                <a:latin typeface="HP Simplified" panose="020B0604020204020204" pitchFamily="34" charset="0"/>
              </a:rPr>
              <a:t>Ramsomware</a:t>
            </a:r>
            <a:r>
              <a:rPr lang="es-MX" sz="2400" dirty="0">
                <a:solidFill>
                  <a:schemeClr val="bg1"/>
                </a:solidFill>
                <a:latin typeface="HP Simplified" panose="020B0604020204020204" pitchFamily="34" charset="0"/>
              </a:rPr>
              <a:t> as a Service (RaaS), la Tríada CIA y respuesta a incidentes.</a:t>
            </a:r>
            <a:endParaRPr lang="es-MX" sz="2000" dirty="0">
              <a:solidFill>
                <a:schemeClr val="bg1"/>
              </a:solidFill>
              <a:latin typeface="HP Simplified" panose="020B0604020204020204" pitchFamily="34" charset="0"/>
            </a:endParaRPr>
          </a:p>
        </p:txBody>
      </p:sp>
      <p:sp>
        <p:nvSpPr>
          <p:cNvPr id="4" name="CuadroTexto 3">
            <a:extLst>
              <a:ext uri="{FF2B5EF4-FFF2-40B4-BE49-F238E27FC236}">
                <a16:creationId xmlns:a16="http://schemas.microsoft.com/office/drawing/2014/main" id="{BD82CB15-CFA1-56B2-2FCC-E985EE59B025}"/>
              </a:ext>
            </a:extLst>
          </p:cNvPr>
          <p:cNvSpPr txBox="1"/>
          <p:nvPr/>
        </p:nvSpPr>
        <p:spPr>
          <a:xfrm>
            <a:off x="11052745" y="107961"/>
            <a:ext cx="1139254" cy="923330"/>
          </a:xfrm>
          <a:prstGeom prst="rect">
            <a:avLst/>
          </a:prstGeom>
          <a:noFill/>
        </p:spPr>
        <p:txBody>
          <a:bodyPr wrap="square" rtlCol="0">
            <a:spAutoFit/>
          </a:bodyPr>
          <a:lstStyle/>
          <a:p>
            <a:pPr algn="ctr"/>
            <a:r>
              <a:rPr lang="es-MX" sz="5400" dirty="0">
                <a:solidFill>
                  <a:schemeClr val="bg1"/>
                </a:solidFill>
                <a:latin typeface="Arial Narrow" panose="020B0606020202030204" pitchFamily="34" charset="0"/>
              </a:rPr>
              <a:t>9X</a:t>
            </a:r>
          </a:p>
        </p:txBody>
      </p:sp>
      <p:pic>
        <p:nvPicPr>
          <p:cNvPr id="11" name="Audio 10">
            <a:hlinkClick r:id="" action="ppaction://media"/>
            <a:extLst>
              <a:ext uri="{FF2B5EF4-FFF2-40B4-BE49-F238E27FC236}">
                <a16:creationId xmlns:a16="http://schemas.microsoft.com/office/drawing/2014/main" id="{43DA6DA1-AE53-B69B-763F-93F1248E5C7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74827615"/>
      </p:ext>
    </p:extLst>
  </p:cSld>
  <p:clrMapOvr>
    <a:masterClrMapping/>
  </p:clrMapOvr>
  <mc:AlternateContent xmlns:mc="http://schemas.openxmlformats.org/markup-compatibility/2006">
    <mc:Choice xmlns:p14="http://schemas.microsoft.com/office/powerpoint/2010/main" Requires="p14">
      <p:transition spd="slow" p14:dur="2000" advTm="14088"/>
    </mc:Choice>
    <mc:Fallback>
      <p:transition spd="slow" advTm="140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7B7937E-5964-6DB2-F28D-E90783A0E749}"/>
              </a:ext>
            </a:extLst>
          </p:cNvPr>
          <p:cNvSpPr/>
          <p:nvPr/>
        </p:nvSpPr>
        <p:spPr>
          <a:xfrm>
            <a:off x="-1" y="6340839"/>
            <a:ext cx="9431311"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s-MX" dirty="0"/>
              <a:t>Introducción</a:t>
            </a:r>
          </a:p>
        </p:txBody>
      </p:sp>
      <p:sp>
        <p:nvSpPr>
          <p:cNvPr id="4" name="Rectángulo 3">
            <a:extLst>
              <a:ext uri="{FF2B5EF4-FFF2-40B4-BE49-F238E27FC236}">
                <a16:creationId xmlns:a16="http://schemas.microsoft.com/office/drawing/2014/main" id="{ED2CD0AB-8048-BFF7-132E-BE88AD5F6103}"/>
              </a:ext>
            </a:extLst>
          </p:cNvPr>
          <p:cNvSpPr/>
          <p:nvPr/>
        </p:nvSpPr>
        <p:spPr>
          <a:xfrm>
            <a:off x="9431311" y="6340839"/>
            <a:ext cx="914400" cy="51716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1</a:t>
            </a:r>
          </a:p>
        </p:txBody>
      </p:sp>
      <p:sp>
        <p:nvSpPr>
          <p:cNvPr id="6" name="Rectángulo 5">
            <a:extLst>
              <a:ext uri="{FF2B5EF4-FFF2-40B4-BE49-F238E27FC236}">
                <a16:creationId xmlns:a16="http://schemas.microsoft.com/office/drawing/2014/main" id="{D596857D-BC40-A59C-B819-AF7CD0F8890A}"/>
              </a:ext>
            </a:extLst>
          </p:cNvPr>
          <p:cNvSpPr/>
          <p:nvPr/>
        </p:nvSpPr>
        <p:spPr>
          <a:xfrm>
            <a:off x="10345711" y="6340839"/>
            <a:ext cx="1846289"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8" name="CuadroTexto 7">
            <a:extLst>
              <a:ext uri="{FF2B5EF4-FFF2-40B4-BE49-F238E27FC236}">
                <a16:creationId xmlns:a16="http://schemas.microsoft.com/office/drawing/2014/main" id="{5C16ECF6-87AA-DDF6-D737-C0388F4F41C2}"/>
              </a:ext>
            </a:extLst>
          </p:cNvPr>
          <p:cNvSpPr txBox="1"/>
          <p:nvPr/>
        </p:nvSpPr>
        <p:spPr>
          <a:xfrm>
            <a:off x="569626" y="613411"/>
            <a:ext cx="11052747" cy="769441"/>
          </a:xfrm>
          <a:prstGeom prst="rect">
            <a:avLst/>
          </a:prstGeom>
          <a:noFill/>
        </p:spPr>
        <p:txBody>
          <a:bodyPr wrap="square" rtlCol="0">
            <a:spAutoFit/>
          </a:bodyPr>
          <a:lstStyle/>
          <a:p>
            <a:r>
              <a:rPr lang="es-MX" sz="4400" b="1" dirty="0">
                <a:latin typeface="HP Simplified" panose="020B0604020204020204" pitchFamily="34" charset="0"/>
              </a:rPr>
              <a:t>La cuenta que paralizó un oleoducto</a:t>
            </a:r>
            <a:endParaRPr lang="es-MX" sz="1600" dirty="0">
              <a:latin typeface="HP Simplified" panose="020B0604020204020204" pitchFamily="34" charset="0"/>
            </a:endParaRPr>
          </a:p>
        </p:txBody>
      </p:sp>
      <p:sp>
        <p:nvSpPr>
          <p:cNvPr id="10" name="CuadroTexto 9">
            <a:extLst>
              <a:ext uri="{FF2B5EF4-FFF2-40B4-BE49-F238E27FC236}">
                <a16:creationId xmlns:a16="http://schemas.microsoft.com/office/drawing/2014/main" id="{3BD11E3E-84A8-2F58-7FAC-1DC24F51F22A}"/>
              </a:ext>
            </a:extLst>
          </p:cNvPr>
          <p:cNvSpPr txBox="1"/>
          <p:nvPr/>
        </p:nvSpPr>
        <p:spPr>
          <a:xfrm>
            <a:off x="569626" y="1382852"/>
            <a:ext cx="11052747" cy="707886"/>
          </a:xfrm>
          <a:prstGeom prst="rect">
            <a:avLst/>
          </a:prstGeom>
          <a:noFill/>
        </p:spPr>
        <p:txBody>
          <a:bodyPr wrap="square" rtlCol="0">
            <a:spAutoFit/>
          </a:bodyPr>
          <a:lstStyle/>
          <a:p>
            <a:r>
              <a:rPr lang="es-MX" sz="2000" dirty="0">
                <a:latin typeface="HP Simplified" panose="020B0604020204020204" pitchFamily="34" charset="0"/>
              </a:rPr>
              <a:t>El 7 de mayo del 2021, el grupo </a:t>
            </a:r>
            <a:r>
              <a:rPr lang="es-MX" sz="2000" dirty="0" err="1">
                <a:latin typeface="HP Simplified" panose="020B0604020204020204" pitchFamily="34" charset="0"/>
              </a:rPr>
              <a:t>DarkSide</a:t>
            </a:r>
            <a:r>
              <a:rPr lang="es-MX" sz="2000" dirty="0">
                <a:latin typeface="HP Simplified" panose="020B0604020204020204" pitchFamily="34" charset="0"/>
              </a:rPr>
              <a:t> atacó mediante un </a:t>
            </a:r>
            <a:r>
              <a:rPr lang="es-MX" sz="2000" dirty="0" err="1">
                <a:latin typeface="HP Simplified" panose="020B0604020204020204" pitchFamily="34" charset="0"/>
              </a:rPr>
              <a:t>Ransomware</a:t>
            </a:r>
            <a:r>
              <a:rPr lang="es-MX" sz="2000" dirty="0">
                <a:latin typeface="HP Simplified" panose="020B0604020204020204" pitchFamily="34" charset="0"/>
              </a:rPr>
              <a:t> a Colonial Pipeline, el mayor oleoducto de combustible de EEUU.</a:t>
            </a:r>
            <a:endParaRPr lang="es-MX" sz="900" dirty="0">
              <a:latin typeface="HP Simplified" panose="020B0604020204020204" pitchFamily="34" charset="0"/>
            </a:endParaRPr>
          </a:p>
        </p:txBody>
      </p:sp>
      <p:sp>
        <p:nvSpPr>
          <p:cNvPr id="12" name="CuadroTexto 11">
            <a:extLst>
              <a:ext uri="{FF2B5EF4-FFF2-40B4-BE49-F238E27FC236}">
                <a16:creationId xmlns:a16="http://schemas.microsoft.com/office/drawing/2014/main" id="{4CF40BAA-BA5A-B9C4-3D08-F4C648F3248B}"/>
              </a:ext>
            </a:extLst>
          </p:cNvPr>
          <p:cNvSpPr txBox="1"/>
          <p:nvPr/>
        </p:nvSpPr>
        <p:spPr>
          <a:xfrm>
            <a:off x="569626" y="5121205"/>
            <a:ext cx="11052747" cy="707886"/>
          </a:xfrm>
          <a:prstGeom prst="rect">
            <a:avLst/>
          </a:prstGeom>
          <a:noFill/>
        </p:spPr>
        <p:txBody>
          <a:bodyPr wrap="square" rtlCol="0">
            <a:spAutoFit/>
          </a:bodyPr>
          <a:lstStyle/>
          <a:p>
            <a:r>
              <a:rPr lang="es-MX" sz="2000" dirty="0">
                <a:latin typeface="HP Simplified" panose="020B0604020204020204" pitchFamily="34" charset="0"/>
              </a:rPr>
              <a:t>Modelo RaaS (</a:t>
            </a:r>
            <a:r>
              <a:rPr lang="es-MX" sz="2000" dirty="0" err="1">
                <a:latin typeface="HP Simplified" panose="020B0604020204020204" pitchFamily="34" charset="0"/>
              </a:rPr>
              <a:t>Ransomware</a:t>
            </a:r>
            <a:r>
              <a:rPr lang="es-MX" sz="2000" dirty="0">
                <a:latin typeface="HP Simplified" panose="020B0604020204020204" pitchFamily="34" charset="0"/>
              </a:rPr>
              <a:t> as a Service): los creadores de </a:t>
            </a:r>
            <a:r>
              <a:rPr lang="es-MX" sz="2000" dirty="0" err="1">
                <a:latin typeface="HP Simplified" panose="020B0604020204020204" pitchFamily="34" charset="0"/>
              </a:rPr>
              <a:t>DarkSide</a:t>
            </a:r>
            <a:r>
              <a:rPr lang="es-MX" sz="2000" dirty="0">
                <a:latin typeface="HP Simplified" panose="020B0604020204020204" pitchFamily="34" charset="0"/>
              </a:rPr>
              <a:t> proveen herramientas a afiliados que atacan y se reparten ganancias.</a:t>
            </a:r>
            <a:endParaRPr lang="es-MX" sz="900" dirty="0">
              <a:latin typeface="HP Simplified" panose="020B0604020204020204" pitchFamily="34" charset="0"/>
            </a:endParaRPr>
          </a:p>
        </p:txBody>
      </p:sp>
      <p:sp>
        <p:nvSpPr>
          <p:cNvPr id="13" name="Rectángulo 12">
            <a:extLst>
              <a:ext uri="{FF2B5EF4-FFF2-40B4-BE49-F238E27FC236}">
                <a16:creationId xmlns:a16="http://schemas.microsoft.com/office/drawing/2014/main" id="{83D3297D-C30C-D1B3-EBF5-067E0BDA9476}"/>
              </a:ext>
            </a:extLst>
          </p:cNvPr>
          <p:cNvSpPr/>
          <p:nvPr/>
        </p:nvSpPr>
        <p:spPr>
          <a:xfrm>
            <a:off x="569626" y="2502732"/>
            <a:ext cx="3293714" cy="22064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5400" b="1" dirty="0">
                <a:solidFill>
                  <a:srgbClr val="C00000"/>
                </a:solidFill>
                <a:latin typeface="HP Simplified" panose="020B0604020204020204" pitchFamily="34" charset="0"/>
              </a:rPr>
              <a:t>6 días</a:t>
            </a:r>
            <a:endParaRPr lang="es-MX" sz="2000"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De operaciones detenidas</a:t>
            </a:r>
          </a:p>
        </p:txBody>
      </p:sp>
      <p:sp>
        <p:nvSpPr>
          <p:cNvPr id="15" name="Rectángulo 14">
            <a:extLst>
              <a:ext uri="{FF2B5EF4-FFF2-40B4-BE49-F238E27FC236}">
                <a16:creationId xmlns:a16="http://schemas.microsoft.com/office/drawing/2014/main" id="{6F4BF463-3F48-2289-E95E-BDA8AE20714E}"/>
              </a:ext>
            </a:extLst>
          </p:cNvPr>
          <p:cNvSpPr/>
          <p:nvPr/>
        </p:nvSpPr>
        <p:spPr>
          <a:xfrm>
            <a:off x="7975141" y="2502732"/>
            <a:ext cx="3293714" cy="22064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100 GB</a:t>
            </a:r>
            <a:endParaRPr lang="es-MX" b="1" dirty="0">
              <a:solidFill>
                <a:srgbClr val="C00000"/>
              </a:solidFill>
              <a:latin typeface="HP Simplified" panose="020B0604020204020204" pitchFamily="34" charset="0"/>
            </a:endParaRPr>
          </a:p>
          <a:p>
            <a:r>
              <a:rPr lang="es-MX" dirty="0">
                <a:solidFill>
                  <a:schemeClr val="tx1"/>
                </a:solidFill>
                <a:latin typeface="HP Simplified" panose="020B0604020204020204" pitchFamily="34" charset="0"/>
              </a:rPr>
              <a:t>De datos corporativos robados</a:t>
            </a:r>
          </a:p>
        </p:txBody>
      </p:sp>
      <p:sp>
        <p:nvSpPr>
          <p:cNvPr id="17" name="Rectángulo 16">
            <a:extLst>
              <a:ext uri="{FF2B5EF4-FFF2-40B4-BE49-F238E27FC236}">
                <a16:creationId xmlns:a16="http://schemas.microsoft.com/office/drawing/2014/main" id="{66529D05-1C22-DBB3-AA46-C0FCBA30F929}"/>
              </a:ext>
            </a:extLst>
          </p:cNvPr>
          <p:cNvSpPr/>
          <p:nvPr/>
        </p:nvSpPr>
        <p:spPr>
          <a:xfrm>
            <a:off x="4272383" y="2502732"/>
            <a:ext cx="3293714" cy="22064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4.4 MDD</a:t>
            </a:r>
            <a:endParaRPr lang="es-MX" b="1" dirty="0">
              <a:solidFill>
                <a:srgbClr val="C00000"/>
              </a:solidFill>
              <a:latin typeface="HP Simplified" panose="020B0604020204020204" pitchFamily="34" charset="0"/>
            </a:endParaRPr>
          </a:p>
          <a:p>
            <a:r>
              <a:rPr lang="es-MX" dirty="0">
                <a:solidFill>
                  <a:schemeClr val="tx1"/>
                </a:solidFill>
                <a:latin typeface="HP Simplified" panose="020B0604020204020204" pitchFamily="34" charset="0"/>
              </a:rPr>
              <a:t>Pagados de Rescate (75 BTC)</a:t>
            </a:r>
          </a:p>
        </p:txBody>
      </p:sp>
      <p:pic>
        <p:nvPicPr>
          <p:cNvPr id="22" name="Audio 21">
            <a:hlinkClick r:id="" action="ppaction://media"/>
            <a:extLst>
              <a:ext uri="{FF2B5EF4-FFF2-40B4-BE49-F238E27FC236}">
                <a16:creationId xmlns:a16="http://schemas.microsoft.com/office/drawing/2014/main" id="{7251FC1A-4D4A-3DD2-ED0E-63898A0254F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84585854"/>
      </p:ext>
    </p:extLst>
  </p:cSld>
  <p:clrMapOvr>
    <a:masterClrMapping/>
  </p:clrMapOvr>
  <mc:AlternateContent xmlns:mc="http://schemas.openxmlformats.org/markup-compatibility/2006">
    <mc:Choice xmlns:p14="http://schemas.microsoft.com/office/powerpoint/2010/main" Requires="p14">
      <p:transition spd="slow" p14:dur="2000" advTm="36623"/>
    </mc:Choice>
    <mc:Fallback>
      <p:transition spd="slow" advTm="366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33ED-430E-12F0-6275-C7E2FD46F65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FA72493-E31D-4B08-6403-AA7F6A6297F2}"/>
              </a:ext>
            </a:extLst>
          </p:cNvPr>
          <p:cNvSpPr/>
          <p:nvPr/>
        </p:nvSpPr>
        <p:spPr>
          <a:xfrm>
            <a:off x="-1" y="6340839"/>
            <a:ext cx="9431311"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s-MX" dirty="0"/>
              <a:t>Proceso</a:t>
            </a:r>
          </a:p>
        </p:txBody>
      </p:sp>
      <p:sp>
        <p:nvSpPr>
          <p:cNvPr id="4" name="Rectángulo 3">
            <a:extLst>
              <a:ext uri="{FF2B5EF4-FFF2-40B4-BE49-F238E27FC236}">
                <a16:creationId xmlns:a16="http://schemas.microsoft.com/office/drawing/2014/main" id="{4931C948-B3A2-808D-0AE4-E7C295D48505}"/>
              </a:ext>
            </a:extLst>
          </p:cNvPr>
          <p:cNvSpPr/>
          <p:nvPr/>
        </p:nvSpPr>
        <p:spPr>
          <a:xfrm>
            <a:off x="9431311" y="6340839"/>
            <a:ext cx="914400" cy="51716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2</a:t>
            </a:r>
          </a:p>
        </p:txBody>
      </p:sp>
      <p:sp>
        <p:nvSpPr>
          <p:cNvPr id="6" name="Rectángulo 5">
            <a:extLst>
              <a:ext uri="{FF2B5EF4-FFF2-40B4-BE49-F238E27FC236}">
                <a16:creationId xmlns:a16="http://schemas.microsoft.com/office/drawing/2014/main" id="{61A20EC4-0245-DC95-E515-5D481FE5D2B5}"/>
              </a:ext>
            </a:extLst>
          </p:cNvPr>
          <p:cNvSpPr/>
          <p:nvPr/>
        </p:nvSpPr>
        <p:spPr>
          <a:xfrm>
            <a:off x="10345711" y="6340839"/>
            <a:ext cx="1846289"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35235C53-FB08-D7C9-343E-EF70A6C01479}"/>
              </a:ext>
            </a:extLst>
          </p:cNvPr>
          <p:cNvSpPr/>
          <p:nvPr/>
        </p:nvSpPr>
        <p:spPr>
          <a:xfrm>
            <a:off x="513532" y="993317"/>
            <a:ext cx="2715720" cy="3762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Acceso</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Contraseña de una cuenta VPN en desuso, filtrado y sin autenticación </a:t>
            </a:r>
            <a:r>
              <a:rPr lang="es-MX" sz="2000" dirty="0" err="1">
                <a:solidFill>
                  <a:schemeClr val="tx1"/>
                </a:solidFill>
                <a:latin typeface="HP Simplified" panose="020B0604020204020204" pitchFamily="34" charset="0"/>
              </a:rPr>
              <a:t>multifactor</a:t>
            </a:r>
            <a:r>
              <a:rPr lang="es-MX" sz="2000" dirty="0">
                <a:solidFill>
                  <a:schemeClr val="tx1"/>
                </a:solidFill>
                <a:latin typeface="HP Simplified" panose="020B0604020204020204" pitchFamily="34" charset="0"/>
              </a:rPr>
              <a:t>.</a:t>
            </a:r>
          </a:p>
        </p:txBody>
      </p:sp>
      <p:sp>
        <p:nvSpPr>
          <p:cNvPr id="10" name="Rectángulo 9">
            <a:extLst>
              <a:ext uri="{FF2B5EF4-FFF2-40B4-BE49-F238E27FC236}">
                <a16:creationId xmlns:a16="http://schemas.microsoft.com/office/drawing/2014/main" id="{D461F2B6-817B-DF5F-3799-992007654C54}"/>
              </a:ext>
            </a:extLst>
          </p:cNvPr>
          <p:cNvSpPr/>
          <p:nvPr/>
        </p:nvSpPr>
        <p:spPr>
          <a:xfrm>
            <a:off x="3338305" y="993316"/>
            <a:ext cx="2715720" cy="3762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Robo</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Exfiltración de 100 GB de datos antes de cifrar los sistemas.</a:t>
            </a:r>
          </a:p>
        </p:txBody>
      </p:sp>
      <p:sp>
        <p:nvSpPr>
          <p:cNvPr id="12" name="Rectángulo 11">
            <a:extLst>
              <a:ext uri="{FF2B5EF4-FFF2-40B4-BE49-F238E27FC236}">
                <a16:creationId xmlns:a16="http://schemas.microsoft.com/office/drawing/2014/main" id="{B639CC15-D12C-DBFF-F243-8F72A2B5E440}"/>
              </a:ext>
            </a:extLst>
          </p:cNvPr>
          <p:cNvSpPr/>
          <p:nvPr/>
        </p:nvSpPr>
        <p:spPr>
          <a:xfrm>
            <a:off x="6163078" y="993316"/>
            <a:ext cx="2715720" cy="3762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Cifrado</a:t>
            </a:r>
            <a:endParaRPr lang="es-MX" b="1" dirty="0">
              <a:solidFill>
                <a:srgbClr val="C00000"/>
              </a:solidFill>
              <a:latin typeface="HP Simplified" panose="020B0604020204020204" pitchFamily="34" charset="0"/>
            </a:endParaRPr>
          </a:p>
          <a:p>
            <a:r>
              <a:rPr lang="es-MX" sz="2000" dirty="0" err="1">
                <a:solidFill>
                  <a:schemeClr val="tx1"/>
                </a:solidFill>
                <a:latin typeface="HP Simplified" panose="020B0604020204020204" pitchFamily="34" charset="0"/>
              </a:rPr>
              <a:t>Ransomware</a:t>
            </a:r>
            <a:r>
              <a:rPr lang="es-MX" sz="2000" dirty="0">
                <a:solidFill>
                  <a:schemeClr val="tx1"/>
                </a:solidFill>
                <a:latin typeface="HP Simplified" panose="020B0604020204020204" pitchFamily="34" charset="0"/>
              </a:rPr>
              <a:t> en la red informática y nota de rescate.</a:t>
            </a:r>
          </a:p>
        </p:txBody>
      </p:sp>
      <p:sp>
        <p:nvSpPr>
          <p:cNvPr id="14" name="Rectángulo 13">
            <a:extLst>
              <a:ext uri="{FF2B5EF4-FFF2-40B4-BE49-F238E27FC236}">
                <a16:creationId xmlns:a16="http://schemas.microsoft.com/office/drawing/2014/main" id="{6800841B-8338-C289-9B1F-BECBF0C2435C}"/>
              </a:ext>
            </a:extLst>
          </p:cNvPr>
          <p:cNvSpPr/>
          <p:nvPr/>
        </p:nvSpPr>
        <p:spPr>
          <a:xfrm>
            <a:off x="8987851" y="993316"/>
            <a:ext cx="2715720" cy="3762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Apagado</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Ductos detenidos de forma preventiva: no podían medir ni cobrar el combustible.</a:t>
            </a:r>
          </a:p>
        </p:txBody>
      </p:sp>
      <p:sp>
        <p:nvSpPr>
          <p:cNvPr id="15" name="Rombo 14">
            <a:extLst>
              <a:ext uri="{FF2B5EF4-FFF2-40B4-BE49-F238E27FC236}">
                <a16:creationId xmlns:a16="http://schemas.microsoft.com/office/drawing/2014/main" id="{AB777F3E-34DD-7E23-0F86-32C7FE218A1F}"/>
              </a:ext>
            </a:extLst>
          </p:cNvPr>
          <p:cNvSpPr/>
          <p:nvPr/>
        </p:nvSpPr>
        <p:spPr>
          <a:xfrm>
            <a:off x="1414192" y="536116"/>
            <a:ext cx="914400" cy="91440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latin typeface="HP Simplified" panose="020B0604020204020204" pitchFamily="34" charset="0"/>
              </a:rPr>
              <a:t>1</a:t>
            </a:r>
          </a:p>
        </p:txBody>
      </p:sp>
      <p:sp>
        <p:nvSpPr>
          <p:cNvPr id="17" name="Rombo 16">
            <a:extLst>
              <a:ext uri="{FF2B5EF4-FFF2-40B4-BE49-F238E27FC236}">
                <a16:creationId xmlns:a16="http://schemas.microsoft.com/office/drawing/2014/main" id="{92E99F8B-89B9-0B1D-E820-716CE0883C80}"/>
              </a:ext>
            </a:extLst>
          </p:cNvPr>
          <p:cNvSpPr/>
          <p:nvPr/>
        </p:nvSpPr>
        <p:spPr>
          <a:xfrm>
            <a:off x="4258454" y="536116"/>
            <a:ext cx="914400" cy="91440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latin typeface="HP Simplified" panose="020B0604020204020204" pitchFamily="34" charset="0"/>
              </a:rPr>
              <a:t>2</a:t>
            </a:r>
          </a:p>
        </p:txBody>
      </p:sp>
      <p:sp>
        <p:nvSpPr>
          <p:cNvPr id="19" name="Rombo 18">
            <a:extLst>
              <a:ext uri="{FF2B5EF4-FFF2-40B4-BE49-F238E27FC236}">
                <a16:creationId xmlns:a16="http://schemas.microsoft.com/office/drawing/2014/main" id="{E83ACB8F-6BC8-261D-2E88-282AB03886A6}"/>
              </a:ext>
            </a:extLst>
          </p:cNvPr>
          <p:cNvSpPr/>
          <p:nvPr/>
        </p:nvSpPr>
        <p:spPr>
          <a:xfrm>
            <a:off x="7063738" y="536116"/>
            <a:ext cx="914400" cy="91440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latin typeface="HP Simplified" panose="020B0604020204020204" pitchFamily="34" charset="0"/>
              </a:rPr>
              <a:t>3</a:t>
            </a:r>
          </a:p>
        </p:txBody>
      </p:sp>
      <p:sp>
        <p:nvSpPr>
          <p:cNvPr id="21" name="Rombo 20">
            <a:extLst>
              <a:ext uri="{FF2B5EF4-FFF2-40B4-BE49-F238E27FC236}">
                <a16:creationId xmlns:a16="http://schemas.microsoft.com/office/drawing/2014/main" id="{BF19F783-A678-9899-7296-3365DF68D702}"/>
              </a:ext>
            </a:extLst>
          </p:cNvPr>
          <p:cNvSpPr/>
          <p:nvPr/>
        </p:nvSpPr>
        <p:spPr>
          <a:xfrm>
            <a:off x="9888511" y="536116"/>
            <a:ext cx="914400" cy="91440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latin typeface="HP Simplified" panose="020B0604020204020204" pitchFamily="34" charset="0"/>
              </a:rPr>
              <a:t>4</a:t>
            </a:r>
          </a:p>
        </p:txBody>
      </p:sp>
      <p:sp>
        <p:nvSpPr>
          <p:cNvPr id="23" name="CuadroTexto 22">
            <a:extLst>
              <a:ext uri="{FF2B5EF4-FFF2-40B4-BE49-F238E27FC236}">
                <a16:creationId xmlns:a16="http://schemas.microsoft.com/office/drawing/2014/main" id="{0AAE8BF9-F916-6F98-2099-7FE501EB3689}"/>
              </a:ext>
            </a:extLst>
          </p:cNvPr>
          <p:cNvSpPr txBox="1"/>
          <p:nvPr/>
        </p:nvSpPr>
        <p:spPr>
          <a:xfrm>
            <a:off x="569626" y="5121205"/>
            <a:ext cx="11052747" cy="707886"/>
          </a:xfrm>
          <a:prstGeom prst="rect">
            <a:avLst/>
          </a:prstGeom>
          <a:noFill/>
        </p:spPr>
        <p:txBody>
          <a:bodyPr wrap="square" rtlCol="0">
            <a:spAutoFit/>
          </a:bodyPr>
          <a:lstStyle/>
          <a:p>
            <a:r>
              <a:rPr lang="es-MX" sz="2000" i="1" dirty="0">
                <a:latin typeface="HP Simplified" panose="020B0604020204020204" pitchFamily="34" charset="0"/>
              </a:rPr>
              <a:t>ACLARACIÓN: El ataque fue contra los sistemas informáticos (TI), no contra los que controlan físicamente el oleoducto.</a:t>
            </a:r>
            <a:endParaRPr lang="es-MX" sz="900" i="1" dirty="0">
              <a:latin typeface="HP Simplified" panose="020B0604020204020204" pitchFamily="34" charset="0"/>
            </a:endParaRPr>
          </a:p>
        </p:txBody>
      </p:sp>
      <p:pic>
        <p:nvPicPr>
          <p:cNvPr id="25" name="Audio 24">
            <a:hlinkClick r:id="" action="ppaction://media"/>
            <a:extLst>
              <a:ext uri="{FF2B5EF4-FFF2-40B4-BE49-F238E27FC236}">
                <a16:creationId xmlns:a16="http://schemas.microsoft.com/office/drawing/2014/main" id="{292B99BF-EAC2-4160-AF45-F1039AF2640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97765817"/>
      </p:ext>
    </p:extLst>
  </p:cSld>
  <p:clrMapOvr>
    <a:masterClrMapping/>
  </p:clrMapOvr>
  <mc:AlternateContent xmlns:mc="http://schemas.openxmlformats.org/markup-compatibility/2006">
    <mc:Choice xmlns:p14="http://schemas.microsoft.com/office/powerpoint/2010/main" Requires="p14">
      <p:transition spd="slow" p14:dur="2000" advTm="34975"/>
    </mc:Choice>
    <mc:Fallback>
      <p:transition spd="slow" advTm="349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5FCB6-BEB0-DE59-74DA-8D18BFCC62F4}"/>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5C064E2-4E8A-4003-83C9-D777B057A779}"/>
              </a:ext>
            </a:extLst>
          </p:cNvPr>
          <p:cNvSpPr/>
          <p:nvPr/>
        </p:nvSpPr>
        <p:spPr>
          <a:xfrm>
            <a:off x="-1" y="6340839"/>
            <a:ext cx="9431311"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s-MX" dirty="0"/>
              <a:t>Impacto en la Triada CIA</a:t>
            </a:r>
          </a:p>
        </p:txBody>
      </p:sp>
      <p:sp>
        <p:nvSpPr>
          <p:cNvPr id="4" name="Rectángulo 3">
            <a:extLst>
              <a:ext uri="{FF2B5EF4-FFF2-40B4-BE49-F238E27FC236}">
                <a16:creationId xmlns:a16="http://schemas.microsoft.com/office/drawing/2014/main" id="{7F7F5241-08DB-CD9C-C5BF-90780C18407E}"/>
              </a:ext>
            </a:extLst>
          </p:cNvPr>
          <p:cNvSpPr/>
          <p:nvPr/>
        </p:nvSpPr>
        <p:spPr>
          <a:xfrm>
            <a:off x="9431311" y="6340839"/>
            <a:ext cx="914400" cy="51716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3</a:t>
            </a:r>
          </a:p>
        </p:txBody>
      </p:sp>
      <p:sp>
        <p:nvSpPr>
          <p:cNvPr id="6" name="Rectángulo 5">
            <a:extLst>
              <a:ext uri="{FF2B5EF4-FFF2-40B4-BE49-F238E27FC236}">
                <a16:creationId xmlns:a16="http://schemas.microsoft.com/office/drawing/2014/main" id="{16781DA5-C490-0F15-7A6E-87CA8FF22EC4}"/>
              </a:ext>
            </a:extLst>
          </p:cNvPr>
          <p:cNvSpPr/>
          <p:nvPr/>
        </p:nvSpPr>
        <p:spPr>
          <a:xfrm>
            <a:off x="10345711" y="6340839"/>
            <a:ext cx="1846289"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8D47E869-8B25-C15D-C83F-5F1DFB82DA97}"/>
              </a:ext>
            </a:extLst>
          </p:cNvPr>
          <p:cNvSpPr/>
          <p:nvPr/>
        </p:nvSpPr>
        <p:spPr>
          <a:xfrm>
            <a:off x="8328660" y="766652"/>
            <a:ext cx="3293714" cy="220647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5400" b="1" dirty="0">
                <a:solidFill>
                  <a:schemeClr val="bg1"/>
                </a:solidFill>
                <a:latin typeface="HP Simplified" panose="020B0604020204020204" pitchFamily="34" charset="0"/>
              </a:rPr>
              <a:t>50 M</a:t>
            </a:r>
            <a:endParaRPr lang="es-MX" sz="2000" b="1" dirty="0">
              <a:solidFill>
                <a:schemeClr val="bg1"/>
              </a:solidFill>
              <a:latin typeface="HP Simplified" panose="020B0604020204020204" pitchFamily="34" charset="0"/>
            </a:endParaRPr>
          </a:p>
          <a:p>
            <a:r>
              <a:rPr lang="es-MX" sz="2000" dirty="0">
                <a:solidFill>
                  <a:schemeClr val="bg1"/>
                </a:solidFill>
                <a:latin typeface="HP Simplified" panose="020B0604020204020204" pitchFamily="34" charset="0"/>
              </a:rPr>
              <a:t>De personas con efectos indirectos en 18 estados</a:t>
            </a:r>
          </a:p>
        </p:txBody>
      </p:sp>
      <p:sp>
        <p:nvSpPr>
          <p:cNvPr id="8" name="Rectángulo 7">
            <a:extLst>
              <a:ext uri="{FF2B5EF4-FFF2-40B4-BE49-F238E27FC236}">
                <a16:creationId xmlns:a16="http://schemas.microsoft.com/office/drawing/2014/main" id="{9EAAAC5A-0CC1-067B-066B-D0398552A1EC}"/>
              </a:ext>
            </a:extLst>
          </p:cNvPr>
          <p:cNvSpPr/>
          <p:nvPr/>
        </p:nvSpPr>
        <p:spPr>
          <a:xfrm>
            <a:off x="8328660" y="3327072"/>
            <a:ext cx="3293714" cy="220647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chemeClr val="bg1"/>
                </a:solidFill>
                <a:latin typeface="HP Simplified" panose="020B0604020204020204" pitchFamily="34" charset="0"/>
              </a:rPr>
              <a:t>5.8 K</a:t>
            </a:r>
            <a:endParaRPr lang="es-MX" b="1" dirty="0">
              <a:solidFill>
                <a:schemeClr val="bg1"/>
              </a:solidFill>
              <a:latin typeface="HP Simplified" panose="020B0604020204020204" pitchFamily="34" charset="0"/>
            </a:endParaRPr>
          </a:p>
          <a:p>
            <a:r>
              <a:rPr lang="es-MX" dirty="0">
                <a:solidFill>
                  <a:schemeClr val="bg1"/>
                </a:solidFill>
                <a:latin typeface="HP Simplified" panose="020B0604020204020204" pitchFamily="34" charset="0"/>
              </a:rPr>
              <a:t>Empleados y exempleados con datos expuestos</a:t>
            </a:r>
          </a:p>
        </p:txBody>
      </p:sp>
      <p:sp>
        <p:nvSpPr>
          <p:cNvPr id="10" name="Rectángulo 9">
            <a:extLst>
              <a:ext uri="{FF2B5EF4-FFF2-40B4-BE49-F238E27FC236}">
                <a16:creationId xmlns:a16="http://schemas.microsoft.com/office/drawing/2014/main" id="{FBC15CEA-BEA2-D32E-A507-4E1F9A004E01}"/>
              </a:ext>
            </a:extLst>
          </p:cNvPr>
          <p:cNvSpPr/>
          <p:nvPr/>
        </p:nvSpPr>
        <p:spPr>
          <a:xfrm>
            <a:off x="569626" y="505343"/>
            <a:ext cx="7317074" cy="16604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Confidencialidad</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Documentos internos y datos de empleados expuestos; amenaza de publicarlos en la Internet Oscura.</a:t>
            </a:r>
          </a:p>
        </p:txBody>
      </p:sp>
      <p:sp>
        <p:nvSpPr>
          <p:cNvPr id="12" name="Rectángulo 11">
            <a:extLst>
              <a:ext uri="{FF2B5EF4-FFF2-40B4-BE49-F238E27FC236}">
                <a16:creationId xmlns:a16="http://schemas.microsoft.com/office/drawing/2014/main" id="{4D4C9D45-2E7C-FC98-78F0-E04A6BE1D6DC}"/>
              </a:ext>
            </a:extLst>
          </p:cNvPr>
          <p:cNvSpPr/>
          <p:nvPr/>
        </p:nvSpPr>
        <p:spPr>
          <a:xfrm>
            <a:off x="569626" y="2409962"/>
            <a:ext cx="7317074" cy="16604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Integridad</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Archivos cifrados e inutilizables sin la clave; se perdió confianza en la información del monitoreo.</a:t>
            </a:r>
          </a:p>
        </p:txBody>
      </p:sp>
      <p:sp>
        <p:nvSpPr>
          <p:cNvPr id="14" name="Rectángulo 13">
            <a:extLst>
              <a:ext uri="{FF2B5EF4-FFF2-40B4-BE49-F238E27FC236}">
                <a16:creationId xmlns:a16="http://schemas.microsoft.com/office/drawing/2014/main" id="{C34D423A-17F9-FE09-DB1F-490D9E0BB1BA}"/>
              </a:ext>
            </a:extLst>
          </p:cNvPr>
          <p:cNvSpPr/>
          <p:nvPr/>
        </p:nvSpPr>
        <p:spPr>
          <a:xfrm>
            <a:off x="569626" y="4314581"/>
            <a:ext cx="7317074" cy="16604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4800" b="1" dirty="0">
                <a:solidFill>
                  <a:srgbClr val="C00000"/>
                </a:solidFill>
                <a:latin typeface="HP Simplified" panose="020B0604020204020204" pitchFamily="34" charset="0"/>
              </a:rPr>
              <a:t>Accesibilidad</a:t>
            </a:r>
            <a:endParaRPr lang="es-MX" b="1" dirty="0">
              <a:solidFill>
                <a:srgbClr val="C00000"/>
              </a:solidFill>
              <a:latin typeface="HP Simplified" panose="020B0604020204020204" pitchFamily="34" charset="0"/>
            </a:endParaRPr>
          </a:p>
          <a:p>
            <a:r>
              <a:rPr lang="es-MX" sz="2000" dirty="0">
                <a:solidFill>
                  <a:schemeClr val="tx1"/>
                </a:solidFill>
                <a:latin typeface="HP Simplified" panose="020B0604020204020204" pitchFamily="34" charset="0"/>
              </a:rPr>
              <a:t>Sin visibilidad ni cobro, la red de ductos se apagó durante 6 días.</a:t>
            </a:r>
          </a:p>
        </p:txBody>
      </p:sp>
      <p:pic>
        <p:nvPicPr>
          <p:cNvPr id="16" name="Audio 15">
            <a:hlinkClick r:id="" action="ppaction://media"/>
            <a:extLst>
              <a:ext uri="{FF2B5EF4-FFF2-40B4-BE49-F238E27FC236}">
                <a16:creationId xmlns:a16="http://schemas.microsoft.com/office/drawing/2014/main" id="{B3889B67-A92B-B66B-F0E7-88E7E667B01A}"/>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13087105"/>
      </p:ext>
    </p:extLst>
  </p:cSld>
  <p:clrMapOvr>
    <a:masterClrMapping/>
  </p:clrMapOvr>
  <mc:AlternateContent xmlns:mc="http://schemas.openxmlformats.org/markup-compatibility/2006">
    <mc:Choice xmlns:p14="http://schemas.microsoft.com/office/powerpoint/2010/main" Requires="p14">
      <p:transition spd="slow" p14:dur="2000" advTm="29942"/>
    </mc:Choice>
    <mc:Fallback>
      <p:transition spd="slow" advTm="299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8BB8-9453-C56D-22B7-F9038F37018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A6E3811-99C7-5671-8E85-692FB157E96C}"/>
              </a:ext>
            </a:extLst>
          </p:cNvPr>
          <p:cNvSpPr/>
          <p:nvPr/>
        </p:nvSpPr>
        <p:spPr>
          <a:xfrm>
            <a:off x="-1" y="6340839"/>
            <a:ext cx="9431311"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r>
              <a:rPr lang="es-MX" dirty="0"/>
              <a:t>Conclusión</a:t>
            </a:r>
          </a:p>
        </p:txBody>
      </p:sp>
      <p:sp>
        <p:nvSpPr>
          <p:cNvPr id="4" name="Rectángulo 3">
            <a:extLst>
              <a:ext uri="{FF2B5EF4-FFF2-40B4-BE49-F238E27FC236}">
                <a16:creationId xmlns:a16="http://schemas.microsoft.com/office/drawing/2014/main" id="{3B681F4F-0989-6DBD-9473-398D313CEF19}"/>
              </a:ext>
            </a:extLst>
          </p:cNvPr>
          <p:cNvSpPr/>
          <p:nvPr/>
        </p:nvSpPr>
        <p:spPr>
          <a:xfrm>
            <a:off x="9431311" y="6340839"/>
            <a:ext cx="914400" cy="51716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4</a:t>
            </a:r>
          </a:p>
        </p:txBody>
      </p:sp>
      <p:sp>
        <p:nvSpPr>
          <p:cNvPr id="6" name="Rectángulo 5">
            <a:extLst>
              <a:ext uri="{FF2B5EF4-FFF2-40B4-BE49-F238E27FC236}">
                <a16:creationId xmlns:a16="http://schemas.microsoft.com/office/drawing/2014/main" id="{D3C46870-FB9D-D7C9-0C5A-E16CE6B6959E}"/>
              </a:ext>
            </a:extLst>
          </p:cNvPr>
          <p:cNvSpPr/>
          <p:nvPr/>
        </p:nvSpPr>
        <p:spPr>
          <a:xfrm>
            <a:off x="10345711" y="6340839"/>
            <a:ext cx="1846289" cy="517161"/>
          </a:xfrm>
          <a:prstGeom prst="rect">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C00C2062-EFA0-1CAC-40D8-F28CE8958A67}"/>
              </a:ext>
            </a:extLst>
          </p:cNvPr>
          <p:cNvSpPr/>
          <p:nvPr/>
        </p:nvSpPr>
        <p:spPr>
          <a:xfrm>
            <a:off x="3322194" y="611124"/>
            <a:ext cx="7317074" cy="13775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3600" b="1" dirty="0">
                <a:solidFill>
                  <a:srgbClr val="C00000"/>
                </a:solidFill>
                <a:latin typeface="HP Simplified" panose="020B0604020204020204" pitchFamily="34" charset="0"/>
              </a:rPr>
              <a:t>Lo simple no siempre es inofensivo</a:t>
            </a:r>
            <a:endParaRPr lang="es-MX" sz="1200" b="1" dirty="0">
              <a:solidFill>
                <a:srgbClr val="C00000"/>
              </a:solidFill>
              <a:latin typeface="HP Simplified" panose="020B0604020204020204" pitchFamily="34" charset="0"/>
            </a:endParaRPr>
          </a:p>
          <a:p>
            <a:r>
              <a:rPr lang="es-MX" dirty="0">
                <a:solidFill>
                  <a:schemeClr val="tx1"/>
                </a:solidFill>
                <a:latin typeface="HP Simplified" panose="020B0604020204020204" pitchFamily="34" charset="0"/>
              </a:rPr>
              <a:t>Una cuenta olvidada sin MFA bastó: la higiene digital es la prioridad máxima.</a:t>
            </a:r>
          </a:p>
        </p:txBody>
      </p:sp>
      <p:sp>
        <p:nvSpPr>
          <p:cNvPr id="8" name="Rectángulo 7">
            <a:extLst>
              <a:ext uri="{FF2B5EF4-FFF2-40B4-BE49-F238E27FC236}">
                <a16:creationId xmlns:a16="http://schemas.microsoft.com/office/drawing/2014/main" id="{928ADC1C-3B10-ACFB-C641-A2D6CAF01A0F}"/>
              </a:ext>
            </a:extLst>
          </p:cNvPr>
          <p:cNvSpPr/>
          <p:nvPr/>
        </p:nvSpPr>
        <p:spPr>
          <a:xfrm>
            <a:off x="3322194" y="2157222"/>
            <a:ext cx="7317074" cy="13775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3600" b="1" i="0" u="none" strike="noStrike" kern="1200" cap="none" spc="0" normalizeH="0" baseline="0" noProof="0" dirty="0">
                <a:ln>
                  <a:noFill/>
                </a:ln>
                <a:solidFill>
                  <a:srgbClr val="C00000"/>
                </a:solidFill>
                <a:effectLst/>
                <a:uLnTx/>
                <a:uFillTx/>
                <a:latin typeface="HP Simplified" panose="020B0604020204020204" pitchFamily="34" charset="0"/>
                <a:ea typeface="+mn-ea"/>
                <a:cs typeface="+mn-cs"/>
              </a:rPr>
              <a:t>Lo digital tiene consecuencias</a:t>
            </a:r>
            <a:endParaRPr kumimoji="0" lang="es-MX" sz="1200" b="1" i="0" u="none" strike="noStrike" kern="1200" cap="none" spc="0" normalizeH="0" baseline="0" noProof="0" dirty="0">
              <a:ln>
                <a:noFill/>
              </a:ln>
              <a:solidFill>
                <a:srgbClr val="C00000"/>
              </a:solidFill>
              <a:effectLst/>
              <a:uLnTx/>
              <a:uFillTx/>
              <a:latin typeface="HP Simplified" panose="020B06040202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HP Simplified" panose="020B0604020204020204" pitchFamily="34" charset="0"/>
                <a:ea typeface="+mn-ea"/>
                <a:cs typeface="+mn-cs"/>
              </a:rPr>
              <a:t>Un problema informático terminó en gasolineras vacías para millones de personas.</a:t>
            </a:r>
          </a:p>
        </p:txBody>
      </p:sp>
      <p:sp>
        <p:nvSpPr>
          <p:cNvPr id="10" name="Rectángulo 9">
            <a:extLst>
              <a:ext uri="{FF2B5EF4-FFF2-40B4-BE49-F238E27FC236}">
                <a16:creationId xmlns:a16="http://schemas.microsoft.com/office/drawing/2014/main" id="{892497C8-57B3-21DB-2D0B-E5F9D7ECC96B}"/>
              </a:ext>
            </a:extLst>
          </p:cNvPr>
          <p:cNvSpPr/>
          <p:nvPr/>
        </p:nvSpPr>
        <p:spPr>
          <a:xfrm>
            <a:off x="3322194" y="3703320"/>
            <a:ext cx="7317074" cy="13775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3600" b="1" dirty="0">
                <a:solidFill>
                  <a:srgbClr val="C00000"/>
                </a:solidFill>
                <a:latin typeface="HP Simplified" panose="020B0604020204020204" pitchFamily="34" charset="0"/>
              </a:rPr>
              <a:t>Pagar o no pagar</a:t>
            </a:r>
            <a:endParaRPr kumimoji="0" lang="es-MX" sz="1200" b="1" i="0" u="none" strike="noStrike" kern="1200" cap="none" spc="0" normalizeH="0" baseline="0" noProof="0" dirty="0">
              <a:ln>
                <a:noFill/>
              </a:ln>
              <a:solidFill>
                <a:srgbClr val="C00000"/>
              </a:solidFill>
              <a:effectLst/>
              <a:uLnTx/>
              <a:uFillTx/>
              <a:latin typeface="HP Simplified" panose="020B0604020204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HP Simplified" panose="020B0604020204020204" pitchFamily="34" charset="0"/>
                <a:ea typeface="+mn-ea"/>
                <a:cs typeface="+mn-cs"/>
              </a:rPr>
              <a:t>El rescate resolvió la urgencia pero financia el crimen; prevenir cuesta menos.</a:t>
            </a:r>
          </a:p>
        </p:txBody>
      </p:sp>
      <p:sp>
        <p:nvSpPr>
          <p:cNvPr id="11" name="Rombo 10">
            <a:extLst>
              <a:ext uri="{FF2B5EF4-FFF2-40B4-BE49-F238E27FC236}">
                <a16:creationId xmlns:a16="http://schemas.microsoft.com/office/drawing/2014/main" id="{F7D6D0B9-7A7D-9EE9-1E6C-CDC6BD12ADFA}"/>
              </a:ext>
            </a:extLst>
          </p:cNvPr>
          <p:cNvSpPr/>
          <p:nvPr/>
        </p:nvSpPr>
        <p:spPr>
          <a:xfrm>
            <a:off x="1749761" y="636013"/>
            <a:ext cx="1377560" cy="137756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800" dirty="0"/>
              <a:t>I</a:t>
            </a:r>
            <a:endParaRPr lang="es-MX" sz="1600" dirty="0"/>
          </a:p>
        </p:txBody>
      </p:sp>
      <p:sp>
        <p:nvSpPr>
          <p:cNvPr id="13" name="Rombo 12">
            <a:extLst>
              <a:ext uri="{FF2B5EF4-FFF2-40B4-BE49-F238E27FC236}">
                <a16:creationId xmlns:a16="http://schemas.microsoft.com/office/drawing/2014/main" id="{66D6C209-700D-A77B-B0BF-F380FAB19C2A}"/>
              </a:ext>
            </a:extLst>
          </p:cNvPr>
          <p:cNvSpPr/>
          <p:nvPr/>
        </p:nvSpPr>
        <p:spPr>
          <a:xfrm>
            <a:off x="1749761" y="2176200"/>
            <a:ext cx="1377560" cy="137756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800" dirty="0"/>
              <a:t>II</a:t>
            </a:r>
            <a:endParaRPr lang="es-MX" sz="1600" dirty="0"/>
          </a:p>
        </p:txBody>
      </p:sp>
      <p:sp>
        <p:nvSpPr>
          <p:cNvPr id="15" name="Rombo 14">
            <a:extLst>
              <a:ext uri="{FF2B5EF4-FFF2-40B4-BE49-F238E27FC236}">
                <a16:creationId xmlns:a16="http://schemas.microsoft.com/office/drawing/2014/main" id="{4E9ABE19-75CD-D0CF-496C-8DAB41C90F9E}"/>
              </a:ext>
            </a:extLst>
          </p:cNvPr>
          <p:cNvSpPr/>
          <p:nvPr/>
        </p:nvSpPr>
        <p:spPr>
          <a:xfrm>
            <a:off x="1749761" y="3728209"/>
            <a:ext cx="1377560" cy="1377560"/>
          </a:xfrm>
          <a:prstGeom prst="diamond">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4800" dirty="0"/>
              <a:t>III</a:t>
            </a:r>
            <a:endParaRPr lang="es-MX" sz="1600" dirty="0"/>
          </a:p>
        </p:txBody>
      </p:sp>
      <p:sp>
        <p:nvSpPr>
          <p:cNvPr id="17" name="CuadroTexto 16">
            <a:extLst>
              <a:ext uri="{FF2B5EF4-FFF2-40B4-BE49-F238E27FC236}">
                <a16:creationId xmlns:a16="http://schemas.microsoft.com/office/drawing/2014/main" id="{7085751E-DC12-5F1C-B7BF-EC5E4873213A}"/>
              </a:ext>
            </a:extLst>
          </p:cNvPr>
          <p:cNvSpPr txBox="1"/>
          <p:nvPr/>
        </p:nvSpPr>
        <p:spPr>
          <a:xfrm>
            <a:off x="569626" y="5395525"/>
            <a:ext cx="11052747" cy="400110"/>
          </a:xfrm>
          <a:prstGeom prst="rect">
            <a:avLst/>
          </a:prstGeom>
          <a:solidFill>
            <a:schemeClr val="tx1">
              <a:lumMod val="95000"/>
              <a:lumOff val="5000"/>
            </a:schemeClr>
          </a:solidFill>
        </p:spPr>
        <p:txBody>
          <a:bodyPr wrap="square" rtlCol="0">
            <a:spAutoFit/>
          </a:bodyPr>
          <a:lstStyle/>
          <a:p>
            <a:pPr algn="ctr"/>
            <a:r>
              <a:rPr lang="es-MX" sz="2000" i="1" dirty="0">
                <a:solidFill>
                  <a:schemeClr val="bg1"/>
                </a:solidFill>
                <a:latin typeface="HP Simplified" panose="020B0604020204020204" pitchFamily="34" charset="0"/>
              </a:rPr>
              <a:t>Si una contraseña pudo parar un oleoducto, </a:t>
            </a:r>
            <a:r>
              <a:rPr lang="es-MX" sz="2000" b="1" i="1" dirty="0">
                <a:solidFill>
                  <a:schemeClr val="bg1"/>
                </a:solidFill>
                <a:latin typeface="HP Simplified" panose="020B0604020204020204" pitchFamily="34" charset="0"/>
              </a:rPr>
              <a:t>¿Qué estamos dejando abierto nosotros?</a:t>
            </a:r>
            <a:endParaRPr lang="es-MX" sz="900" b="1" i="1" dirty="0">
              <a:solidFill>
                <a:schemeClr val="bg1"/>
              </a:solidFill>
              <a:latin typeface="HP Simplified" panose="020B0604020204020204" pitchFamily="34" charset="0"/>
            </a:endParaRPr>
          </a:p>
        </p:txBody>
      </p:sp>
      <p:pic>
        <p:nvPicPr>
          <p:cNvPr id="19" name="Audio 18">
            <a:hlinkClick r:id="" action="ppaction://media"/>
            <a:extLst>
              <a:ext uri="{FF2B5EF4-FFF2-40B4-BE49-F238E27FC236}">
                <a16:creationId xmlns:a16="http://schemas.microsoft.com/office/drawing/2014/main" id="{55747502-DECD-3614-C55A-299EFCE19E1A}"/>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74715009"/>
      </p:ext>
    </p:extLst>
  </p:cSld>
  <p:clrMapOvr>
    <a:masterClrMapping/>
  </p:clrMapOvr>
  <mc:AlternateContent xmlns:mc="http://schemas.openxmlformats.org/markup-compatibility/2006">
    <mc:Choice xmlns:p14="http://schemas.microsoft.com/office/powerpoint/2010/main" Requires="p14">
      <p:transition spd="slow" p14:dur="2000" advTm="61175"/>
    </mc:Choice>
    <mc:Fallback>
      <p:transition spd="slow" advTm="611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556</TotalTime>
  <Words>717</Words>
  <Application>Microsoft Office PowerPoint</Application>
  <PresentationFormat>Panorámica</PresentationFormat>
  <Paragraphs>63</Paragraphs>
  <Slides>5</Slides>
  <Notes>5</Notes>
  <HiddenSlides>0</HiddenSlides>
  <MMClips>5</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vt:i4>
      </vt:variant>
    </vt:vector>
  </HeadingPairs>
  <TitlesOfParts>
    <vt:vector size="11" baseType="lpstr">
      <vt:lpstr>Aptos</vt:lpstr>
      <vt:lpstr>Aptos Display</vt:lpstr>
      <vt:lpstr>Arial</vt:lpstr>
      <vt:lpstr>Arial Narrow</vt:lpstr>
      <vt:lpstr>HP Simplified</vt:lpstr>
      <vt:lpstr>Tema de Office</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RENE RAFAEL ALMEIDA MARTINEZ</dc:creator>
  <cp:lastModifiedBy>RENE RAFAEL ALMEIDA MARTINEZ</cp:lastModifiedBy>
  <cp:revision>6</cp:revision>
  <dcterms:created xsi:type="dcterms:W3CDTF">2026-10-19T03:54:56Z</dcterms:created>
  <dcterms:modified xsi:type="dcterms:W3CDTF">2026-10-20T04:49:19Z</dcterms:modified>
</cp:coreProperties>
</file>
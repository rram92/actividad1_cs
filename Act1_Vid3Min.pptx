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5A4D4-8E89-42AB-30EE-AE8F4F7712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67B104E-2AEC-4FC9-7124-CF66F7B6DA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D8EDD3-D15C-1CA8-11C7-C2DBF4A2A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5E3CAD-DB69-8AD3-5301-DA9187E99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ED5920-F4A9-9693-0407-F80EDB90A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0375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1C3A7-0DA3-CACB-A198-3F2BF9858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090CB73-EF9A-AB11-CE63-B7CDADD4D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C378647-46FA-1522-DEA8-EC19CC703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A72012-1678-E2D9-7761-0062C4B3C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B41CFFF-1CA2-559C-9820-E80BFE95C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27064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1FE86-38AD-2A26-6C7F-328E26566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462A40E-A70A-60E4-A1E8-56A5FF2AF3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79FD6A-4D63-EC24-CE73-46985C5AD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F7C5BA-D8B2-0E51-783F-BED08A7B3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5A6F81-6186-C61E-6EED-4D50B4268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11960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447F4E-A9F3-7C1C-DC0F-E4DD211B3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1B6633-BD48-04E3-15F2-0ACFFD63BE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74E462-A2FA-F5F4-9BCE-F6CA9CB05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04215D6-ACA2-C394-0D90-8D566DAC1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A9B7F5E-FC80-E8E3-D9A5-87016E402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A32563-4E6E-ED19-96EC-94AE4263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35203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7ACCB-EC05-BC91-9700-335AC6155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1545456-F907-A743-7F85-6B69BCB2E7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3CB3DBB-EA38-C5F7-4837-557C50751C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8EB3017-080E-9BF6-7718-830FCB3F3B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02683A5-821E-0C2C-045E-13E41280A4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F2175D6-310F-8D0A-E054-8822A4BF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51624C9-8F7A-B597-59A3-C08084BC9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156ABCD-CB00-3C13-B077-7A777B2F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2832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2AEB2D-4434-F77F-6462-F45CB1AC1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903E784-13CF-AEFF-D513-EA61ABCD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E2AA23B-9F23-C601-6BE5-8C28620F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39316EF-1ECE-8FB3-31F6-88AEE40D5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34459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6595D3D-97D3-0E46-C998-E147C36F4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2CB7769-EE8B-1209-DB15-FF2578AD9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65BE79-FA88-177B-6747-0198DEC75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598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CD80E2-49CB-78A4-C44E-68A9F5876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F837AA-F5D3-D074-D0B2-7D4102A4C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8CB6C7-BE1D-16DD-453D-3CE1DE151D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247FECC-A9BE-6871-3484-CA6101F15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71795CC-8E07-B655-E900-91765FB33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207425-50B0-347E-2741-5112BA14E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77027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3B9A54-3223-AE6A-4B3B-77A7E3CC6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3E314C3-AD36-3270-454C-015BB71C270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55ECFAF-B238-FB31-6317-487A4D85E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F75496-3724-34F0-31B3-A7C663D6D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7300AC7-BEE1-3297-7350-475EF398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3CB0DAE-3B6F-3E82-292D-FA39B5E85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56103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999D49-CAF4-42F2-728A-989908B4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BE73BF4-6113-5D36-CDCB-5E1C58185F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DAC2DD-6AD1-A04B-7CBE-DA01254F7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527828-CDF0-86DE-35D2-B206D1BE9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8A0E46F-5003-6F95-9478-715DB2979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93158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452ADA9-CE79-6D9F-E2EB-709CC82B81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090A8EC-E05B-707B-AD04-38D375195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011276-6FDE-2782-5BF9-79A8D6DF8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16193A-756E-AE46-66F9-D69D6B09C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34AD33-62C7-FBBC-0C11-CB13FD729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589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DE81F1F-7D22-8BAF-7E79-EA75A00EF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4ABCB7-ECF6-6266-048C-492BB4096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69E2CB2-AA80-4EAA-FDE6-628F73E2AF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FD0E7-3D16-4994-8432-9B8057CB4DFB}" type="datetimeFigureOut">
              <a:rPr lang="es-MX" smtClean="0"/>
              <a:t>19/10/2026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7E386B-A5A4-C8AF-D6FC-6776E6409E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C0F9666-4564-4A46-8097-2826860A14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78697A-328B-4650-93D7-4D219BBBD33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86161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Un año de información en Bit Life Media">
            <a:extLst>
              <a:ext uri="{FF2B5EF4-FFF2-40B4-BE49-F238E27FC236}">
                <a16:creationId xmlns:a16="http://schemas.microsoft.com/office/drawing/2014/main" id="{FA264EDF-8441-E04E-10CF-E6D940F94CAF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1" y="-1"/>
            <a:ext cx="12192000" cy="6858001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EA89CC3-B84F-BD7E-CE87-963EDB0AEBA3}"/>
              </a:ext>
            </a:extLst>
          </p:cNvPr>
          <p:cNvSpPr/>
          <p:nvPr/>
        </p:nvSpPr>
        <p:spPr>
          <a:xfrm>
            <a:off x="11052747" y="-1"/>
            <a:ext cx="1139253" cy="113925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3975DBA-3D82-E813-9EB2-51097A026DB5}"/>
              </a:ext>
            </a:extLst>
          </p:cNvPr>
          <p:cNvSpPr/>
          <p:nvPr/>
        </p:nvSpPr>
        <p:spPr>
          <a:xfrm>
            <a:off x="0" y="1139252"/>
            <a:ext cx="11052747" cy="5718748"/>
          </a:xfrm>
          <a:prstGeom prst="rect">
            <a:avLst/>
          </a:prstGeom>
          <a:gradFill>
            <a:gsLst>
              <a:gs pos="0">
                <a:srgbClr val="C00000">
                  <a:alpha val="0"/>
                </a:srgbClr>
              </a:gs>
              <a:gs pos="59000">
                <a:srgbClr val="C00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6A62079-AF2E-2E33-24BF-CB300FF1726E}"/>
              </a:ext>
            </a:extLst>
          </p:cNvPr>
          <p:cNvSpPr txBox="1"/>
          <p:nvPr/>
        </p:nvSpPr>
        <p:spPr>
          <a:xfrm>
            <a:off x="-2" y="4888231"/>
            <a:ext cx="1105274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5400" b="1" dirty="0">
                <a:solidFill>
                  <a:schemeClr val="bg1"/>
                </a:solidFill>
                <a:latin typeface="HP Simplified" panose="020B0604020204020204" pitchFamily="34" charset="0"/>
              </a:rPr>
              <a:t>Ciberataque de Colonial Pipeline</a:t>
            </a:r>
          </a:p>
          <a:p>
            <a:r>
              <a:rPr lang="es-MX" sz="2400" dirty="0">
                <a:solidFill>
                  <a:schemeClr val="bg1"/>
                </a:solidFill>
                <a:latin typeface="HP Simplified" panose="020B0604020204020204" pitchFamily="34" charset="0"/>
              </a:rPr>
              <a:t>Estudio de caso sobre el modelo </a:t>
            </a:r>
            <a:r>
              <a:rPr lang="es-MX" sz="2400" dirty="0" err="1">
                <a:solidFill>
                  <a:schemeClr val="bg1"/>
                </a:solidFill>
                <a:latin typeface="HP Simplified" panose="020B0604020204020204" pitchFamily="34" charset="0"/>
              </a:rPr>
              <a:t>Ramsomware</a:t>
            </a:r>
            <a:r>
              <a:rPr lang="es-MX" sz="2400" dirty="0">
                <a:solidFill>
                  <a:schemeClr val="bg1"/>
                </a:solidFill>
                <a:latin typeface="HP Simplified" panose="020B0604020204020204" pitchFamily="34" charset="0"/>
              </a:rPr>
              <a:t> as a Service (RaaS), la Tríada CIA y respuesta a incidentes.</a:t>
            </a:r>
            <a:endParaRPr lang="es-MX" sz="2000" dirty="0">
              <a:solidFill>
                <a:schemeClr val="bg1"/>
              </a:solidFill>
              <a:latin typeface="HP Simplified" panose="020B0604020204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D82CB15-CFA1-56B2-2FCC-E985EE59B025}"/>
              </a:ext>
            </a:extLst>
          </p:cNvPr>
          <p:cNvSpPr txBox="1"/>
          <p:nvPr/>
        </p:nvSpPr>
        <p:spPr>
          <a:xfrm>
            <a:off x="11052745" y="107961"/>
            <a:ext cx="11392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5400" dirty="0">
                <a:solidFill>
                  <a:schemeClr val="bg1"/>
                </a:solidFill>
                <a:latin typeface="Arial Narrow" panose="020B0606020202030204" pitchFamily="34" charset="0"/>
              </a:rPr>
              <a:t>9X</a:t>
            </a:r>
          </a:p>
        </p:txBody>
      </p:sp>
    </p:spTree>
    <p:extLst>
      <p:ext uri="{BB962C8B-B14F-4D97-AF65-F5344CB8AC3E}">
        <p14:creationId xmlns:p14="http://schemas.microsoft.com/office/powerpoint/2010/main" val="3674827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7B7937E-5964-6DB2-F28D-E90783A0E749}"/>
              </a:ext>
            </a:extLst>
          </p:cNvPr>
          <p:cNvSpPr/>
          <p:nvPr/>
        </p:nvSpPr>
        <p:spPr>
          <a:xfrm>
            <a:off x="-1" y="6340839"/>
            <a:ext cx="9431311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/>
              <a:t>Introducción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D2CD0AB-8048-BFF7-132E-BE88AD5F6103}"/>
              </a:ext>
            </a:extLst>
          </p:cNvPr>
          <p:cNvSpPr/>
          <p:nvPr/>
        </p:nvSpPr>
        <p:spPr>
          <a:xfrm>
            <a:off x="9431311" y="6340839"/>
            <a:ext cx="914400" cy="51716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596857D-BC40-A59C-B819-AF7CD0F8890A}"/>
              </a:ext>
            </a:extLst>
          </p:cNvPr>
          <p:cNvSpPr/>
          <p:nvPr/>
        </p:nvSpPr>
        <p:spPr>
          <a:xfrm>
            <a:off x="10345711" y="6340839"/>
            <a:ext cx="1846289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C16ECF6-87AA-DDF6-D737-C0388F4F41C2}"/>
              </a:ext>
            </a:extLst>
          </p:cNvPr>
          <p:cNvSpPr txBox="1"/>
          <p:nvPr/>
        </p:nvSpPr>
        <p:spPr>
          <a:xfrm>
            <a:off x="569626" y="613411"/>
            <a:ext cx="1105274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400" b="1" dirty="0">
                <a:latin typeface="HP Simplified" panose="020B0604020204020204" pitchFamily="34" charset="0"/>
              </a:rPr>
              <a:t>La cuenta que paralizó un oleoducto</a:t>
            </a:r>
            <a:endParaRPr lang="es-MX" sz="1600" dirty="0">
              <a:latin typeface="HP Simplified" panose="020B0604020204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BD11E3E-84A8-2F58-7FAC-1DC24F51F22A}"/>
              </a:ext>
            </a:extLst>
          </p:cNvPr>
          <p:cNvSpPr txBox="1"/>
          <p:nvPr/>
        </p:nvSpPr>
        <p:spPr>
          <a:xfrm>
            <a:off x="569626" y="1382852"/>
            <a:ext cx="11052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>
                <a:latin typeface="HP Simplified" panose="020B0604020204020204" pitchFamily="34" charset="0"/>
              </a:rPr>
              <a:t>El 7 de mayo del 2021, el grupo </a:t>
            </a:r>
            <a:r>
              <a:rPr lang="es-MX" sz="2000" dirty="0" err="1">
                <a:latin typeface="HP Simplified" panose="020B0604020204020204" pitchFamily="34" charset="0"/>
              </a:rPr>
              <a:t>DarkSide</a:t>
            </a:r>
            <a:r>
              <a:rPr lang="es-MX" sz="2000" dirty="0">
                <a:latin typeface="HP Simplified" panose="020B0604020204020204" pitchFamily="34" charset="0"/>
              </a:rPr>
              <a:t> atacó mediante un </a:t>
            </a:r>
            <a:r>
              <a:rPr lang="es-MX" sz="2000" dirty="0" err="1">
                <a:latin typeface="HP Simplified" panose="020B0604020204020204" pitchFamily="34" charset="0"/>
              </a:rPr>
              <a:t>Ransomware</a:t>
            </a:r>
            <a:r>
              <a:rPr lang="es-MX" sz="2000" dirty="0">
                <a:latin typeface="HP Simplified" panose="020B0604020204020204" pitchFamily="34" charset="0"/>
              </a:rPr>
              <a:t> a Colonial Pipeline, el mayor oleoducto de combustible de EEUU.</a:t>
            </a:r>
            <a:endParaRPr lang="es-MX" sz="900" dirty="0">
              <a:latin typeface="HP Simplified" panose="020B0604020204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CF40BAA-BA5A-B9C4-3D08-F4C648F3248B}"/>
              </a:ext>
            </a:extLst>
          </p:cNvPr>
          <p:cNvSpPr txBox="1"/>
          <p:nvPr/>
        </p:nvSpPr>
        <p:spPr>
          <a:xfrm>
            <a:off x="569626" y="5121205"/>
            <a:ext cx="11052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>
                <a:latin typeface="HP Simplified" panose="020B0604020204020204" pitchFamily="34" charset="0"/>
              </a:rPr>
              <a:t>Modelo RaaS (</a:t>
            </a:r>
            <a:r>
              <a:rPr lang="es-MX" sz="2000" dirty="0" err="1">
                <a:latin typeface="HP Simplified" panose="020B0604020204020204" pitchFamily="34" charset="0"/>
              </a:rPr>
              <a:t>Ransomware</a:t>
            </a:r>
            <a:r>
              <a:rPr lang="es-MX" sz="2000" dirty="0">
                <a:latin typeface="HP Simplified" panose="020B0604020204020204" pitchFamily="34" charset="0"/>
              </a:rPr>
              <a:t> as a Service): los creadores de </a:t>
            </a:r>
            <a:r>
              <a:rPr lang="es-MX" sz="2000" dirty="0" err="1">
                <a:latin typeface="HP Simplified" panose="020B0604020204020204" pitchFamily="34" charset="0"/>
              </a:rPr>
              <a:t>DarkSide</a:t>
            </a:r>
            <a:r>
              <a:rPr lang="es-MX" sz="2000" dirty="0">
                <a:latin typeface="HP Simplified" panose="020B0604020204020204" pitchFamily="34" charset="0"/>
              </a:rPr>
              <a:t> proveen herramientas a afiliados que atacan y se reparten ganancias.</a:t>
            </a:r>
            <a:endParaRPr lang="es-MX" sz="900" dirty="0">
              <a:latin typeface="HP Simplified" panose="020B0604020204020204" pitchFamily="34" charset="0"/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3D3297D-C30C-D1B3-EBF5-067E0BDA9476}"/>
              </a:ext>
            </a:extLst>
          </p:cNvPr>
          <p:cNvSpPr/>
          <p:nvPr/>
        </p:nvSpPr>
        <p:spPr>
          <a:xfrm>
            <a:off x="569626" y="2502732"/>
            <a:ext cx="3293714" cy="2206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5400" b="1" dirty="0">
                <a:solidFill>
                  <a:srgbClr val="C00000"/>
                </a:solidFill>
                <a:latin typeface="HP Simplified" panose="020B0604020204020204" pitchFamily="34" charset="0"/>
              </a:rPr>
              <a:t>6 días</a:t>
            </a:r>
            <a:endParaRPr lang="es-MX" sz="2000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De operaciones detenidas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F4BF463-3F48-2289-E95E-BDA8AE20714E}"/>
              </a:ext>
            </a:extLst>
          </p:cNvPr>
          <p:cNvSpPr/>
          <p:nvPr/>
        </p:nvSpPr>
        <p:spPr>
          <a:xfrm>
            <a:off x="7975141" y="2502732"/>
            <a:ext cx="3293714" cy="2206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100 GB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dirty="0">
                <a:solidFill>
                  <a:schemeClr val="tx1"/>
                </a:solidFill>
                <a:latin typeface="HP Simplified" panose="020B0604020204020204" pitchFamily="34" charset="0"/>
              </a:rPr>
              <a:t>De datos corporativos robados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6529D05-1C22-DBB3-AA46-C0FCBA30F929}"/>
              </a:ext>
            </a:extLst>
          </p:cNvPr>
          <p:cNvSpPr/>
          <p:nvPr/>
        </p:nvSpPr>
        <p:spPr>
          <a:xfrm>
            <a:off x="4272383" y="2502732"/>
            <a:ext cx="3293714" cy="2206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4.4 MDD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dirty="0">
                <a:solidFill>
                  <a:schemeClr val="tx1"/>
                </a:solidFill>
                <a:latin typeface="HP Simplified" panose="020B0604020204020204" pitchFamily="34" charset="0"/>
              </a:rPr>
              <a:t>Pagados de Rescate (75 BTC)</a:t>
            </a:r>
          </a:p>
        </p:txBody>
      </p:sp>
    </p:spTree>
    <p:extLst>
      <p:ext uri="{BB962C8B-B14F-4D97-AF65-F5344CB8AC3E}">
        <p14:creationId xmlns:p14="http://schemas.microsoft.com/office/powerpoint/2010/main" val="418458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133ED-430E-12F0-6275-C7E2FD46F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FA72493-E31D-4B08-6403-AA7F6A6297F2}"/>
              </a:ext>
            </a:extLst>
          </p:cNvPr>
          <p:cNvSpPr/>
          <p:nvPr/>
        </p:nvSpPr>
        <p:spPr>
          <a:xfrm>
            <a:off x="-1" y="6340839"/>
            <a:ext cx="9431311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/>
              <a:t>Proceso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31C948-B3A2-808D-0AE4-E7C295D48505}"/>
              </a:ext>
            </a:extLst>
          </p:cNvPr>
          <p:cNvSpPr/>
          <p:nvPr/>
        </p:nvSpPr>
        <p:spPr>
          <a:xfrm>
            <a:off x="9431311" y="6340839"/>
            <a:ext cx="914400" cy="51716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2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1A20EC4-0245-DC95-E515-5D481FE5D2B5}"/>
              </a:ext>
            </a:extLst>
          </p:cNvPr>
          <p:cNvSpPr/>
          <p:nvPr/>
        </p:nvSpPr>
        <p:spPr>
          <a:xfrm>
            <a:off x="10345711" y="6340839"/>
            <a:ext cx="1846289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235C53-FB08-D7C9-343E-EF70A6C01479}"/>
              </a:ext>
            </a:extLst>
          </p:cNvPr>
          <p:cNvSpPr/>
          <p:nvPr/>
        </p:nvSpPr>
        <p:spPr>
          <a:xfrm>
            <a:off x="513532" y="993317"/>
            <a:ext cx="2715720" cy="3762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Acceso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Contraseña de una cuenta VPN en desuso, filtrado y sin autenticación </a:t>
            </a:r>
            <a:r>
              <a:rPr lang="es-MX" sz="2000" dirty="0" err="1">
                <a:solidFill>
                  <a:schemeClr val="tx1"/>
                </a:solidFill>
                <a:latin typeface="HP Simplified" panose="020B0604020204020204" pitchFamily="34" charset="0"/>
              </a:rPr>
              <a:t>multifactor</a:t>
            </a:r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461F2B6-817B-DF5F-3799-992007654C54}"/>
              </a:ext>
            </a:extLst>
          </p:cNvPr>
          <p:cNvSpPr/>
          <p:nvPr/>
        </p:nvSpPr>
        <p:spPr>
          <a:xfrm>
            <a:off x="3338305" y="993316"/>
            <a:ext cx="2715720" cy="3762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Robo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Exfiltración de 100 GB de datos antes de cifrar los sistemas.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639CC15-D12C-DBFF-F243-8F72A2B5E440}"/>
              </a:ext>
            </a:extLst>
          </p:cNvPr>
          <p:cNvSpPr/>
          <p:nvPr/>
        </p:nvSpPr>
        <p:spPr>
          <a:xfrm>
            <a:off x="6163078" y="993316"/>
            <a:ext cx="2715720" cy="3762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Cifrado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 err="1">
                <a:solidFill>
                  <a:schemeClr val="tx1"/>
                </a:solidFill>
                <a:latin typeface="HP Simplified" panose="020B0604020204020204" pitchFamily="34" charset="0"/>
              </a:rPr>
              <a:t>Ransomware</a:t>
            </a:r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 en la red informática y nota de rescate.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800841B-8338-C289-9B1F-BECBF0C2435C}"/>
              </a:ext>
            </a:extLst>
          </p:cNvPr>
          <p:cNvSpPr/>
          <p:nvPr/>
        </p:nvSpPr>
        <p:spPr>
          <a:xfrm>
            <a:off x="8987851" y="993316"/>
            <a:ext cx="2715720" cy="3762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Apagado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Ductos detenidos de forma preventiva: no podían medir ni cobrar el combustible.</a:t>
            </a:r>
          </a:p>
        </p:txBody>
      </p:sp>
      <p:sp>
        <p:nvSpPr>
          <p:cNvPr id="15" name="Rombo 14">
            <a:extLst>
              <a:ext uri="{FF2B5EF4-FFF2-40B4-BE49-F238E27FC236}">
                <a16:creationId xmlns:a16="http://schemas.microsoft.com/office/drawing/2014/main" id="{AB777F3E-34DD-7E23-0F86-32C7FE218A1F}"/>
              </a:ext>
            </a:extLst>
          </p:cNvPr>
          <p:cNvSpPr/>
          <p:nvPr/>
        </p:nvSpPr>
        <p:spPr>
          <a:xfrm>
            <a:off x="1414192" y="536116"/>
            <a:ext cx="914400" cy="914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HP Simplified" panose="020B0604020204020204" pitchFamily="34" charset="0"/>
              </a:rPr>
              <a:t>1</a:t>
            </a:r>
          </a:p>
        </p:txBody>
      </p:sp>
      <p:sp>
        <p:nvSpPr>
          <p:cNvPr id="17" name="Rombo 16">
            <a:extLst>
              <a:ext uri="{FF2B5EF4-FFF2-40B4-BE49-F238E27FC236}">
                <a16:creationId xmlns:a16="http://schemas.microsoft.com/office/drawing/2014/main" id="{92E99F8B-89B9-0B1D-E820-716CE0883C80}"/>
              </a:ext>
            </a:extLst>
          </p:cNvPr>
          <p:cNvSpPr/>
          <p:nvPr/>
        </p:nvSpPr>
        <p:spPr>
          <a:xfrm>
            <a:off x="4258454" y="536116"/>
            <a:ext cx="914400" cy="914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HP Simplified" panose="020B0604020204020204" pitchFamily="34" charset="0"/>
              </a:rPr>
              <a:t>2</a:t>
            </a:r>
          </a:p>
        </p:txBody>
      </p:sp>
      <p:sp>
        <p:nvSpPr>
          <p:cNvPr id="19" name="Rombo 18">
            <a:extLst>
              <a:ext uri="{FF2B5EF4-FFF2-40B4-BE49-F238E27FC236}">
                <a16:creationId xmlns:a16="http://schemas.microsoft.com/office/drawing/2014/main" id="{E83ACB8F-6BC8-261D-2E88-282AB03886A6}"/>
              </a:ext>
            </a:extLst>
          </p:cNvPr>
          <p:cNvSpPr/>
          <p:nvPr/>
        </p:nvSpPr>
        <p:spPr>
          <a:xfrm>
            <a:off x="7063738" y="536116"/>
            <a:ext cx="914400" cy="914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HP Simplified" panose="020B0604020204020204" pitchFamily="34" charset="0"/>
              </a:rPr>
              <a:t>3</a:t>
            </a:r>
          </a:p>
        </p:txBody>
      </p:sp>
      <p:sp>
        <p:nvSpPr>
          <p:cNvPr id="21" name="Rombo 20">
            <a:extLst>
              <a:ext uri="{FF2B5EF4-FFF2-40B4-BE49-F238E27FC236}">
                <a16:creationId xmlns:a16="http://schemas.microsoft.com/office/drawing/2014/main" id="{BF19F783-A678-9899-7296-3365DF68D702}"/>
              </a:ext>
            </a:extLst>
          </p:cNvPr>
          <p:cNvSpPr/>
          <p:nvPr/>
        </p:nvSpPr>
        <p:spPr>
          <a:xfrm>
            <a:off x="9888511" y="536116"/>
            <a:ext cx="914400" cy="91440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HP Simplified" panose="020B0604020204020204" pitchFamily="34" charset="0"/>
              </a:rPr>
              <a:t>4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AAE8BF9-F916-6F98-2099-7FE501EB3689}"/>
              </a:ext>
            </a:extLst>
          </p:cNvPr>
          <p:cNvSpPr txBox="1"/>
          <p:nvPr/>
        </p:nvSpPr>
        <p:spPr>
          <a:xfrm>
            <a:off x="569626" y="5121205"/>
            <a:ext cx="110527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i="1" dirty="0">
                <a:latin typeface="HP Simplified" panose="020B0604020204020204" pitchFamily="34" charset="0"/>
              </a:rPr>
              <a:t>ACLARACIÓN: El ataque fue contra los sistemas informáticos (TI), no contra los que controlan físicamente el oleoducto.</a:t>
            </a:r>
            <a:endParaRPr lang="es-MX" sz="900" i="1" dirty="0">
              <a:latin typeface="HP Simplified" panose="020B0604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765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FCB6-BEB0-DE59-74DA-8D18BFCC6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5C064E2-4E8A-4003-83C9-D777B057A779}"/>
              </a:ext>
            </a:extLst>
          </p:cNvPr>
          <p:cNvSpPr/>
          <p:nvPr/>
        </p:nvSpPr>
        <p:spPr>
          <a:xfrm>
            <a:off x="-1" y="6340839"/>
            <a:ext cx="9431311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/>
              <a:t>Impacto en la Triada CIA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F7F5241-08DB-CD9C-C5BF-90780C18407E}"/>
              </a:ext>
            </a:extLst>
          </p:cNvPr>
          <p:cNvSpPr/>
          <p:nvPr/>
        </p:nvSpPr>
        <p:spPr>
          <a:xfrm>
            <a:off x="9431311" y="6340839"/>
            <a:ext cx="914400" cy="51716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3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6781DA5-C490-0F15-7A6E-87CA8FF22EC4}"/>
              </a:ext>
            </a:extLst>
          </p:cNvPr>
          <p:cNvSpPr/>
          <p:nvPr/>
        </p:nvSpPr>
        <p:spPr>
          <a:xfrm>
            <a:off x="10345711" y="6340839"/>
            <a:ext cx="1846289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D47E869-8B25-C15D-C83F-5F1DFB82DA97}"/>
              </a:ext>
            </a:extLst>
          </p:cNvPr>
          <p:cNvSpPr/>
          <p:nvPr/>
        </p:nvSpPr>
        <p:spPr>
          <a:xfrm>
            <a:off x="8328660" y="766652"/>
            <a:ext cx="3293714" cy="22064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5400" b="1" dirty="0">
                <a:solidFill>
                  <a:schemeClr val="bg1"/>
                </a:solidFill>
                <a:latin typeface="HP Simplified" panose="020B0604020204020204" pitchFamily="34" charset="0"/>
              </a:rPr>
              <a:t>50 M</a:t>
            </a:r>
            <a:endParaRPr lang="es-MX" sz="2000" b="1" dirty="0">
              <a:solidFill>
                <a:schemeClr val="bg1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bg1"/>
                </a:solidFill>
                <a:latin typeface="HP Simplified" panose="020B0604020204020204" pitchFamily="34" charset="0"/>
              </a:rPr>
              <a:t>De personas con efectos indirectos en 18 estados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EAAAC5A-0CC1-067B-066B-D0398552A1EC}"/>
              </a:ext>
            </a:extLst>
          </p:cNvPr>
          <p:cNvSpPr/>
          <p:nvPr/>
        </p:nvSpPr>
        <p:spPr>
          <a:xfrm>
            <a:off x="8328660" y="3327072"/>
            <a:ext cx="3293714" cy="22064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chemeClr val="bg1"/>
                </a:solidFill>
                <a:latin typeface="HP Simplified" panose="020B0604020204020204" pitchFamily="34" charset="0"/>
              </a:rPr>
              <a:t>5.8 K</a:t>
            </a:r>
            <a:endParaRPr lang="es-MX" b="1" dirty="0">
              <a:solidFill>
                <a:schemeClr val="bg1"/>
              </a:solidFill>
              <a:latin typeface="HP Simplified" panose="020B0604020204020204" pitchFamily="34" charset="0"/>
            </a:endParaRPr>
          </a:p>
          <a:p>
            <a:r>
              <a:rPr lang="es-MX" dirty="0">
                <a:solidFill>
                  <a:schemeClr val="bg1"/>
                </a:solidFill>
                <a:latin typeface="HP Simplified" panose="020B0604020204020204" pitchFamily="34" charset="0"/>
              </a:rPr>
              <a:t>Empleados y exempleados con datos expuestos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BC15CEA-BEA2-D32E-A507-4E1F9A004E01}"/>
              </a:ext>
            </a:extLst>
          </p:cNvPr>
          <p:cNvSpPr/>
          <p:nvPr/>
        </p:nvSpPr>
        <p:spPr>
          <a:xfrm>
            <a:off x="569626" y="505343"/>
            <a:ext cx="7317074" cy="1660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Confidencialidad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Documentos internos y datos de empleados expuestos; amenaza de publicarlos en la Internet Oscura.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D4C9D45-2E7C-FC98-78F0-E04A6BE1D6DC}"/>
              </a:ext>
            </a:extLst>
          </p:cNvPr>
          <p:cNvSpPr/>
          <p:nvPr/>
        </p:nvSpPr>
        <p:spPr>
          <a:xfrm>
            <a:off x="569626" y="2409962"/>
            <a:ext cx="7317074" cy="1660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Integridad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Archivos cifrados e inutilizables sin la clave; se perdió confianza en la información del monitoreo.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34D423A-17F9-FE09-DB1F-490D9E0BB1BA}"/>
              </a:ext>
            </a:extLst>
          </p:cNvPr>
          <p:cNvSpPr/>
          <p:nvPr/>
        </p:nvSpPr>
        <p:spPr>
          <a:xfrm>
            <a:off x="569626" y="4314581"/>
            <a:ext cx="7317074" cy="1660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4800" b="1" dirty="0">
                <a:solidFill>
                  <a:srgbClr val="C00000"/>
                </a:solidFill>
                <a:latin typeface="HP Simplified" panose="020B0604020204020204" pitchFamily="34" charset="0"/>
              </a:rPr>
              <a:t>Accesibilidad</a:t>
            </a:r>
            <a:endParaRPr lang="es-MX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sz="2000" dirty="0">
                <a:solidFill>
                  <a:schemeClr val="tx1"/>
                </a:solidFill>
                <a:latin typeface="HP Simplified" panose="020B0604020204020204" pitchFamily="34" charset="0"/>
              </a:rPr>
              <a:t>Sin visibilidad ni cobro, la red de ductos se apagó durante 6 días.</a:t>
            </a:r>
          </a:p>
        </p:txBody>
      </p:sp>
    </p:spTree>
    <p:extLst>
      <p:ext uri="{BB962C8B-B14F-4D97-AF65-F5344CB8AC3E}">
        <p14:creationId xmlns:p14="http://schemas.microsoft.com/office/powerpoint/2010/main" val="1113087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E8BB8-9453-C56D-22B7-F9038F370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A6E3811-99C7-5671-8E85-692FB157E96C}"/>
              </a:ext>
            </a:extLst>
          </p:cNvPr>
          <p:cNvSpPr/>
          <p:nvPr/>
        </p:nvSpPr>
        <p:spPr>
          <a:xfrm>
            <a:off x="-1" y="6340839"/>
            <a:ext cx="9431311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/>
              <a:t>Conclusión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B681F4F-0989-6DBD-9473-398D313CEF19}"/>
              </a:ext>
            </a:extLst>
          </p:cNvPr>
          <p:cNvSpPr/>
          <p:nvPr/>
        </p:nvSpPr>
        <p:spPr>
          <a:xfrm>
            <a:off x="9431311" y="6340839"/>
            <a:ext cx="914400" cy="517161"/>
          </a:xfrm>
          <a:prstGeom prst="rect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4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3C46870-FB9D-D7C9-0C5A-E16CE6B6959E}"/>
              </a:ext>
            </a:extLst>
          </p:cNvPr>
          <p:cNvSpPr/>
          <p:nvPr/>
        </p:nvSpPr>
        <p:spPr>
          <a:xfrm>
            <a:off x="10345711" y="6340839"/>
            <a:ext cx="1846289" cy="5171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00C2062-EFA0-1CAC-40D8-F28CE8958A67}"/>
              </a:ext>
            </a:extLst>
          </p:cNvPr>
          <p:cNvSpPr/>
          <p:nvPr/>
        </p:nvSpPr>
        <p:spPr>
          <a:xfrm>
            <a:off x="3322194" y="611124"/>
            <a:ext cx="7317074" cy="1377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3600" b="1" dirty="0">
                <a:solidFill>
                  <a:srgbClr val="C00000"/>
                </a:solidFill>
                <a:latin typeface="HP Simplified" panose="020B0604020204020204" pitchFamily="34" charset="0"/>
              </a:rPr>
              <a:t>Lo simple no siempre es inofensivo</a:t>
            </a:r>
            <a:endParaRPr lang="es-MX" sz="1200" b="1" dirty="0">
              <a:solidFill>
                <a:srgbClr val="C00000"/>
              </a:solidFill>
              <a:latin typeface="HP Simplified" panose="020B0604020204020204" pitchFamily="34" charset="0"/>
            </a:endParaRPr>
          </a:p>
          <a:p>
            <a:r>
              <a:rPr lang="es-MX" dirty="0">
                <a:solidFill>
                  <a:schemeClr val="tx1"/>
                </a:solidFill>
                <a:latin typeface="HP Simplified" panose="020B0604020204020204" pitchFamily="34" charset="0"/>
              </a:rPr>
              <a:t>Una cuenta olvidada sin MFA bastó: la higiene digital es la prioridad máxima.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28ADC1C-3B10-ACFB-C641-A2D6CAF01A0F}"/>
              </a:ext>
            </a:extLst>
          </p:cNvPr>
          <p:cNvSpPr/>
          <p:nvPr/>
        </p:nvSpPr>
        <p:spPr>
          <a:xfrm>
            <a:off x="3322194" y="2157222"/>
            <a:ext cx="7317074" cy="1377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3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HP Simplified" panose="020B0604020204020204" pitchFamily="34" charset="0"/>
                <a:ea typeface="+mn-ea"/>
                <a:cs typeface="+mn-cs"/>
              </a:rPr>
              <a:t>Lo digital tiene consecuencias</a:t>
            </a: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HP Simplified" panose="020B0604020204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P Simplified" panose="020B0604020204020204" pitchFamily="34" charset="0"/>
                <a:ea typeface="+mn-ea"/>
                <a:cs typeface="+mn-cs"/>
              </a:rPr>
              <a:t>Un problema informático terminó en gasolineras vacías para millones de personas.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92497C8-57B3-21DB-2D0B-E5F9D7ECC96B}"/>
              </a:ext>
            </a:extLst>
          </p:cNvPr>
          <p:cNvSpPr/>
          <p:nvPr/>
        </p:nvSpPr>
        <p:spPr>
          <a:xfrm>
            <a:off x="3322194" y="3703320"/>
            <a:ext cx="7317074" cy="1377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3600" b="1" dirty="0">
                <a:solidFill>
                  <a:srgbClr val="C00000"/>
                </a:solidFill>
                <a:latin typeface="HP Simplified" panose="020B0604020204020204" pitchFamily="34" charset="0"/>
              </a:rPr>
              <a:t>Pagar o no pagar</a:t>
            </a: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HP Simplified" panose="020B0604020204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P Simplified" panose="020B0604020204020204" pitchFamily="34" charset="0"/>
                <a:ea typeface="+mn-ea"/>
                <a:cs typeface="+mn-cs"/>
              </a:rPr>
              <a:t>El rescate resolvió la urgencia pero financia el crimen; prevenir cuesta menos.</a:t>
            </a:r>
          </a:p>
        </p:txBody>
      </p:sp>
      <p:sp>
        <p:nvSpPr>
          <p:cNvPr id="11" name="Rombo 10">
            <a:extLst>
              <a:ext uri="{FF2B5EF4-FFF2-40B4-BE49-F238E27FC236}">
                <a16:creationId xmlns:a16="http://schemas.microsoft.com/office/drawing/2014/main" id="{F7D6D0B9-7A7D-9EE9-1E6C-CDC6BD12ADFA}"/>
              </a:ext>
            </a:extLst>
          </p:cNvPr>
          <p:cNvSpPr/>
          <p:nvPr/>
        </p:nvSpPr>
        <p:spPr>
          <a:xfrm>
            <a:off x="1749761" y="636013"/>
            <a:ext cx="1377560" cy="137756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4800" dirty="0"/>
              <a:t>I</a:t>
            </a:r>
            <a:endParaRPr lang="es-MX" sz="1600" dirty="0"/>
          </a:p>
        </p:txBody>
      </p:sp>
      <p:sp>
        <p:nvSpPr>
          <p:cNvPr id="13" name="Rombo 12">
            <a:extLst>
              <a:ext uri="{FF2B5EF4-FFF2-40B4-BE49-F238E27FC236}">
                <a16:creationId xmlns:a16="http://schemas.microsoft.com/office/drawing/2014/main" id="{66D6C209-700D-A77B-B0BF-F380FAB19C2A}"/>
              </a:ext>
            </a:extLst>
          </p:cNvPr>
          <p:cNvSpPr/>
          <p:nvPr/>
        </p:nvSpPr>
        <p:spPr>
          <a:xfrm>
            <a:off x="1749761" y="2176200"/>
            <a:ext cx="1377560" cy="137756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4800" dirty="0"/>
              <a:t>II</a:t>
            </a:r>
            <a:endParaRPr lang="es-MX" sz="1600" dirty="0"/>
          </a:p>
        </p:txBody>
      </p:sp>
      <p:sp>
        <p:nvSpPr>
          <p:cNvPr id="15" name="Rombo 14">
            <a:extLst>
              <a:ext uri="{FF2B5EF4-FFF2-40B4-BE49-F238E27FC236}">
                <a16:creationId xmlns:a16="http://schemas.microsoft.com/office/drawing/2014/main" id="{4E9ABE19-75CD-D0CF-496C-8DAB41C90F9E}"/>
              </a:ext>
            </a:extLst>
          </p:cNvPr>
          <p:cNvSpPr/>
          <p:nvPr/>
        </p:nvSpPr>
        <p:spPr>
          <a:xfrm>
            <a:off x="1749761" y="3728209"/>
            <a:ext cx="1377560" cy="1377560"/>
          </a:xfrm>
          <a:prstGeom prst="diamond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4800" dirty="0"/>
              <a:t>III</a:t>
            </a:r>
            <a:endParaRPr lang="es-MX" sz="16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085751E-DC12-5F1C-B7BF-EC5E4873213A}"/>
              </a:ext>
            </a:extLst>
          </p:cNvPr>
          <p:cNvSpPr txBox="1"/>
          <p:nvPr/>
        </p:nvSpPr>
        <p:spPr>
          <a:xfrm>
            <a:off x="569626" y="5395525"/>
            <a:ext cx="11052747" cy="40011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i="1" dirty="0">
                <a:solidFill>
                  <a:schemeClr val="bg1"/>
                </a:solidFill>
                <a:latin typeface="HP Simplified" panose="020B0604020204020204" pitchFamily="34" charset="0"/>
              </a:rPr>
              <a:t>Si una contraseña pudo parar un oleoducto, </a:t>
            </a:r>
            <a:r>
              <a:rPr lang="es-MX" sz="2000" b="1" i="1" dirty="0">
                <a:solidFill>
                  <a:schemeClr val="bg1"/>
                </a:solidFill>
                <a:latin typeface="HP Simplified" panose="020B0604020204020204" pitchFamily="34" charset="0"/>
              </a:rPr>
              <a:t>¿Qué estamos dejando abierto nosotros?</a:t>
            </a:r>
            <a:endParaRPr lang="es-MX" sz="900" b="1" i="1" dirty="0">
              <a:solidFill>
                <a:schemeClr val="bg1"/>
              </a:solidFill>
              <a:latin typeface="HP Simplified" panose="020B0604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71500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334</Words>
  <Application>Microsoft Office PowerPoint</Application>
  <PresentationFormat>Panorámica</PresentationFormat>
  <Paragraphs>53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Arial Narrow</vt:lpstr>
      <vt:lpstr>HP Simplified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RAFAEL ALMEIDA MARTINEZ</dc:creator>
  <cp:lastModifiedBy>RENE RAFAEL ALMEIDA MARTINEZ</cp:lastModifiedBy>
  <cp:revision>5</cp:revision>
  <dcterms:created xsi:type="dcterms:W3CDTF">2026-10-19T03:54:56Z</dcterms:created>
  <dcterms:modified xsi:type="dcterms:W3CDTF">2026-10-19T23:18:13Z</dcterms:modified>
</cp:coreProperties>
</file>